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fdfd25d2b46d6" /><Relationship Type="http://schemas.openxmlformats.org/officeDocument/2006/relationships/extended-properties" Target="/docProps/app.xml" Id="Rba7095449496497f" /><Relationship Type="http://schemas.openxmlformats.org/officeDocument/2006/relationships/officeDocument" Target="/ppt/presentation.xml" Id="Ra7f040735085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7f5fee8bf4fbc"/>
  </p:sldMasterIdLst>
  <p:notesMasterIdLst>
    <p:notesMasterId xmlns:r="http://schemas.openxmlformats.org/officeDocument/2006/relationships" r:id="Rdfdf326fe170426b"/>
  </p:notesMasterIdLst>
  <p:sldIdLst>
    <p:sldId xmlns:r="http://schemas.openxmlformats.org/officeDocument/2006/relationships" id="256" r:id="R14193edcae854bcd"/>
    <p:sldId xmlns:r="http://schemas.openxmlformats.org/officeDocument/2006/relationships" id="257" r:id="R0cb72c78a0b64a30"/>
    <p:sldId xmlns:r="http://schemas.openxmlformats.org/officeDocument/2006/relationships" id="258" r:id="R07d892301169423f"/>
    <p:sldId xmlns:r="http://schemas.openxmlformats.org/officeDocument/2006/relationships" id="259" r:id="R38c8bc99e1224ee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7f5fee8bf4fbc" /><Relationship Type="http://schemas.openxmlformats.org/officeDocument/2006/relationships/theme" Target="/ppt/theme/theme1.xml" Id="R794a33a9510f4516" /><Relationship Type="http://schemas.openxmlformats.org/officeDocument/2006/relationships/notesMaster" Target="/ppt/notesMasters/notesMaster1.xml" Id="Rdfdf326fe170426b" /><Relationship Type="http://schemas.openxmlformats.org/officeDocument/2006/relationships/presProps" Target="/ppt/presProps.xml" Id="R7ba34a14bde84d39" /><Relationship Type="http://schemas.openxmlformats.org/officeDocument/2006/relationships/viewProps" Target="/ppt/viewProps.xml" Id="R1c5483c619834ce7" /><Relationship Type="http://schemas.openxmlformats.org/officeDocument/2006/relationships/tableStyles" Target="/ppt/tableStyles.xml" Id="R3ab31e94f5a9428d" /><Relationship Type="http://schemas.openxmlformats.org/officeDocument/2006/relationships/slide" Target="/ppt/slides/slide1.xml" Id="R14193edcae854bcd" /><Relationship Type="http://schemas.openxmlformats.org/officeDocument/2006/relationships/slide" Target="/ppt/slides/slide2.xml" Id="R0cb72c78a0b64a30" /><Relationship Type="http://schemas.openxmlformats.org/officeDocument/2006/relationships/slide" Target="/ppt/slides/slide3.xml" Id="R07d892301169423f" /><Relationship Type="http://schemas.openxmlformats.org/officeDocument/2006/relationships/slide" Target="/ppt/slides/slide4.xml" Id="R38c8bc99e122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e849c2bba340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86eda04d04a90" /><Relationship Type="http://schemas.openxmlformats.org/officeDocument/2006/relationships/notesMaster" Target="/ppt/notesMasters/notesMaster1.xml" Id="Raee41d28cb034f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1019d36fc4b17" /><Relationship Type="http://schemas.openxmlformats.org/officeDocument/2006/relationships/notesMaster" Target="/ppt/notesMasters/notesMaster1.xml" Id="R60db09789826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6ac63a737409b" /><Relationship Type="http://schemas.openxmlformats.org/officeDocument/2006/relationships/notesMaster" Target="/ppt/notesMasters/notesMaster1.xml" Id="Rb24b86174ddc45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5735eb31149ce" /><Relationship Type="http://schemas.openxmlformats.org/officeDocument/2006/relationships/notesMaster" Target="/ppt/notesMasters/notesMaster1.xml" Id="R246abee4325e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大家好，今天用两分钟介绍 Local Knowledge Bridge。它解决的问题很简单：AI 很聪明，但它不知道你电脑里那些 PDF、笔记、论文和项目文件在哪里。LKB 就像一座桥，把本地资料接到 Codex 前面，让 AI 先查你的本地数据库，再组织回答。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日常使用时，你不用记一堆命令。在 Codex 里写 Local Knowledge Bridge，或者直接写 lkb，它就会去 Obsidian、Zotero、EndNote 和本地文件夹里找证据。它支持 fast、balanced 和可选 deep 三种方式，既能快速查找，也能做更深入的本地语义检索。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底层逻辑也不神秘。LKB 会把可读文件解析、分块，并建立本地索引；轻量模式用 SQLite FTS5 和混合排序，deep 模式再加入本地 embedding 和 reranker。优点很实际：本地、只读、可引用来源，而且 fast 和 balanced 不会加载大模型。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部署也尽量简单。第一步，下载项目并解压；第二步，在 local-knowledge-bridge 目录运行 lkb_setup.cmd，然后按向导添加数据源。之后就像聊天一样提问，例如查 Transformer 压缩笔记，或让 lkb 基于本地论文整理报告。资料仍在本机，AI 终于能用上它们。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880394423409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3ec197c60314ab1" /><Relationship Type="http://schemas.openxmlformats.org/officeDocument/2006/relationships/slideLayout" Target="/ppt/slideLayouts/slideLayout2.xml" Id="Rdc46f492c977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46f492c977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84f7c9195c4bc9" /><Relationship Type="http://schemas.openxmlformats.org/officeDocument/2006/relationships/notesSlide" Target="/ppt/notesSlides/notesSlide1.xml" Id="Re4652cf19a74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e5154c6cd44485" /><Relationship Type="http://schemas.openxmlformats.org/officeDocument/2006/relationships/notesSlide" Target="/ppt/notesSlides/notesSlide2.xml" Id="R2badff4d7b8a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6d8514a4d4a9c" /><Relationship Type="http://schemas.openxmlformats.org/officeDocument/2006/relationships/notesSlide" Target="/ppt/notesSlides/notesSlide3.xml" Id="R4abc0d5f175743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ad87ade814471" /><Relationship Type="http://schemas.openxmlformats.org/officeDocument/2006/relationships/notesSlide" Target="/ppt/notesSlides/notesSlide4.xml" Id="R007b0c69b9f74e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80BC51BB-33EF-46C2-B0CA-1596AC52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13C337D-F895-439C-8724-3C3B94C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9908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8EA"/>
                </a:solidFill>
              </a:defRPr>
            </a:pPr>
            <a:r>
              <a:rPr sz="2400" b="1">
                <a:solidFill>
                  <a:srgbClr val="FFF8EA"/>
                </a:solidFill>
              </a:rPr>
              <a:t>Local Knowledge Bridge</a:t>
            </a:r>
          </a:p>
        </p:txBody>
      </p:sp>
      <p:sp>
        <p:nvSpPr>
          <p:cNvPr id="3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07A0F132-B2F5-4C75-8456-2307077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914400"/>
            <a:ext cx="2266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8D2D8"/>
                </a:solidFill>
              </a:defRPr>
            </a:pPr>
            <a:r>
              <a:rPr sz="1800">
                <a:solidFill>
                  <a:srgbClr val="C8D2D8"/>
                </a:solidFill>
              </a:rPr>
              <a:t>让 Codex 先查本地资料</a:t>
            </a:r>
          </a:p>
        </p:txBody>
      </p:sp>
      <p:sp>
        <p:nvSpPr>
          <p:cNvPr id="4" name="cover-phrase">
            <a:extLst xmlns:a="http://schemas.openxmlformats.org/drawingml/2006/main">
              <a:ext uri="{FF2B5EF4-FFF2-40B4-BE49-F238E27FC236}">
                <a16:creationId xmlns:a16="http://schemas.microsoft.com/office/drawing/2014/main" id="{75466121-5DFB-402F-90CA-1D478618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162800" cy="27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FFF8EA"/>
                </a:solidFill>
              </a:defRPr>
            </a:pPr>
            <a:r>
              <a:rPr sz="8850" b="1">
                <a:solidFill>
                  <a:srgbClr val="FFF8EA"/>
                </a:solidFill>
              </a:rPr>
              <a:t>AI+本地数据库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8B29023E-12CF-4D98-A3E2-E5B0F73A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7A"/>
          </a:solidFill>
          <a:ln xmlns:a="http://schemas.openxmlformats.org/drawingml/2006/main" w="0">
            <a:solidFill>
              <a:srgbClr val="008B7A"/>
            </a:solidFill>
            <a:prstDash val="solid"/>
          </a:ln>
        </p:spPr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FE009CF-43BB-4321-AA10-E298B399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6724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CE5E7"/>
                </a:solidFill>
              </a:defRPr>
            </a:pPr>
            <a:r>
              <a:rPr sz="2400">
                <a:solidFill>
                  <a:srgbClr val="DCE5E7"/>
                </a:solidFill>
              </a:rPr>
              <a:t>把散落在电脑里的笔记、论文和项目文件，变成 AI 能先检索、再引用的知识入口。</a:t>
            </a:r>
          </a:p>
        </p:txBody>
      </p:sp>
      <p:sp>
        <p:nvSpPr>
          <p:cNvPr id="7" name="file-icon-pdf">
            <a:extLst xmlns:a="http://schemas.openxmlformats.org/drawingml/2006/main">
              <a:ext uri="{FF2B5EF4-FFF2-40B4-BE49-F238E27FC236}">
                <a16:creationId xmlns:a16="http://schemas.microsoft.com/office/drawing/2014/main" id="{1D01F5A2-BFA8-4C7F-A477-CD50C0E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8" name="file-icon-pdf-bar">
            <a:extLst xmlns:a="http://schemas.openxmlformats.org/drawingml/2006/main">
              <a:ext uri="{FF2B5EF4-FFF2-40B4-BE49-F238E27FC236}">
                <a16:creationId xmlns:a16="http://schemas.microsoft.com/office/drawing/2014/main" id="{1837C00F-FB71-4F14-81B3-297BF9FF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343"/>
          </a:solidFill>
        </p:spPr>
      </p:sp>
      <p:sp>
        <p:nvSpPr>
          <p:cNvPr id="9" name="file-icon-pdf-ext">
            <a:extLst xmlns:a="http://schemas.openxmlformats.org/drawingml/2006/main">
              <a:ext uri="{FF2B5EF4-FFF2-40B4-BE49-F238E27FC236}">
                <a16:creationId xmlns:a16="http://schemas.microsoft.com/office/drawing/2014/main" id="{4A6D6F24-CEC9-4AED-A1F7-F8B9099A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PDF</a:t>
            </a:r>
          </a:p>
        </p:txBody>
      </p:sp>
      <p:sp>
        <p:nvSpPr>
          <p:cNvPr id="10" name="file-icon-pdf-label">
            <a:extLst xmlns:a="http://schemas.openxmlformats.org/drawingml/2006/main">
              <a:ext uri="{FF2B5EF4-FFF2-40B4-BE49-F238E27FC236}">
                <a16:creationId xmlns:a16="http://schemas.microsoft.com/office/drawing/2014/main" id="{D385F4F1-C329-4CF7-A6CC-E127AE2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论文 / 报告</a:t>
            </a:r>
          </a:p>
        </p:txBody>
      </p:sp>
      <p:sp>
        <p:nvSpPr>
          <p:cNvPr id="11" name="file-icon-md">
            <a:extLst xmlns:a="http://schemas.openxmlformats.org/drawingml/2006/main">
              <a:ext uri="{FF2B5EF4-FFF2-40B4-BE49-F238E27FC236}">
                <a16:creationId xmlns:a16="http://schemas.microsoft.com/office/drawing/2014/main" id="{00624857-AE60-4D99-B7FF-E449DBD4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12" name="file-icon-md-bar">
            <a:extLst xmlns:a="http://schemas.openxmlformats.org/drawingml/2006/main">
              <a:ext uri="{FF2B5EF4-FFF2-40B4-BE49-F238E27FC236}">
                <a16:creationId xmlns:a16="http://schemas.microsoft.com/office/drawing/2014/main" id="{74C4C703-FCC5-4A25-9153-43073C3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7A"/>
          </a:solidFill>
        </p:spPr>
      </p:sp>
      <p:sp>
        <p:nvSpPr>
          <p:cNvPr id="13" name="file-icon-md-ext">
            <a:extLst xmlns:a="http://schemas.openxmlformats.org/drawingml/2006/main">
              <a:ext uri="{FF2B5EF4-FFF2-40B4-BE49-F238E27FC236}">
                <a16:creationId xmlns:a16="http://schemas.microsoft.com/office/drawing/2014/main" id="{446EC32C-768F-4ADE-9AFB-A7959F6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MD</a:t>
            </a:r>
          </a:p>
        </p:txBody>
      </p:sp>
      <p:sp>
        <p:nvSpPr>
          <p:cNvPr id="14" name="file-icon-md-label">
            <a:extLst xmlns:a="http://schemas.openxmlformats.org/drawingml/2006/main">
              <a:ext uri="{FF2B5EF4-FFF2-40B4-BE49-F238E27FC236}">
                <a16:creationId xmlns:a16="http://schemas.microsoft.com/office/drawing/2014/main" id="{DC0B5895-2BEA-4504-89D8-2AD11C7A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Obsidian</a:t>
            </a:r>
          </a:p>
        </p:txBody>
      </p:sp>
      <p:sp>
        <p:nvSpPr>
          <p:cNvPr id="15" name="file-icon-txt">
            <a:extLst xmlns:a="http://schemas.openxmlformats.org/drawingml/2006/main">
              <a:ext uri="{FF2B5EF4-FFF2-40B4-BE49-F238E27FC236}">
                <a16:creationId xmlns:a16="http://schemas.microsoft.com/office/drawing/2014/main" id="{CA7B2798-656D-48CA-B1C1-A8DEAA1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16" name="file-icon-txt-bar">
            <a:extLst xmlns:a="http://schemas.openxmlformats.org/drawingml/2006/main">
              <a:ext uri="{FF2B5EF4-FFF2-40B4-BE49-F238E27FC236}">
                <a16:creationId xmlns:a16="http://schemas.microsoft.com/office/drawing/2014/main" id="{A9232639-A3BC-4BD1-85D5-1D2A3358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9B16"/>
          </a:solidFill>
        </p:spPr>
      </p:sp>
      <p:sp>
        <p:nvSpPr>
          <p:cNvPr id="17" name="file-icon-txt-ext">
            <a:extLst xmlns:a="http://schemas.openxmlformats.org/drawingml/2006/main">
              <a:ext uri="{FF2B5EF4-FFF2-40B4-BE49-F238E27FC236}">
                <a16:creationId xmlns:a16="http://schemas.microsoft.com/office/drawing/2014/main" id="{E44D1495-C092-4DED-B7FF-3F3D24E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TXT</a:t>
            </a:r>
          </a:p>
        </p:txBody>
      </p:sp>
      <p:sp>
        <p:nvSpPr>
          <p:cNvPr id="18" name="file-icon-txt-label">
            <a:extLst xmlns:a="http://schemas.openxmlformats.org/drawingml/2006/main">
              <a:ext uri="{FF2B5EF4-FFF2-40B4-BE49-F238E27FC236}">
                <a16:creationId xmlns:a16="http://schemas.microsoft.com/office/drawing/2014/main" id="{709B7B9E-D974-43C6-B50E-B33E058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文本资料</a:t>
            </a:r>
          </a:p>
        </p:txBody>
      </p:sp>
      <p:sp>
        <p:nvSpPr>
          <p:cNvPr id="19" name="file-icon-pptx">
            <a:extLst xmlns:a="http://schemas.openxmlformats.org/drawingml/2006/main">
              <a:ext uri="{FF2B5EF4-FFF2-40B4-BE49-F238E27FC236}">
                <a16:creationId xmlns:a16="http://schemas.microsoft.com/office/drawing/2014/main" id="{297856D5-E23B-4583-B15C-5B29F913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0" name="file-icon-pptx-bar">
            <a:extLst xmlns:a="http://schemas.openxmlformats.org/drawingml/2006/main">
              <a:ext uri="{FF2B5EF4-FFF2-40B4-BE49-F238E27FC236}">
                <a16:creationId xmlns:a16="http://schemas.microsoft.com/office/drawing/2014/main" id="{CEF00E1C-8C9D-4A3B-837D-8650206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D2F"/>
          </a:solidFill>
        </p:spPr>
      </p:sp>
      <p:sp>
        <p:nvSpPr>
          <p:cNvPr id="21" name="file-icon-pptx-ext">
            <a:extLst xmlns:a="http://schemas.openxmlformats.org/drawingml/2006/main">
              <a:ext uri="{FF2B5EF4-FFF2-40B4-BE49-F238E27FC236}">
                <a16:creationId xmlns:a16="http://schemas.microsoft.com/office/drawing/2014/main" id="{247865FC-D586-4329-893D-CA39F80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PPTX</a:t>
            </a:r>
          </a:p>
        </p:txBody>
      </p:sp>
      <p:sp>
        <p:nvSpPr>
          <p:cNvPr id="22" name="file-icon-pptx-label">
            <a:extLst xmlns:a="http://schemas.openxmlformats.org/drawingml/2006/main">
              <a:ext uri="{FF2B5EF4-FFF2-40B4-BE49-F238E27FC236}">
                <a16:creationId xmlns:a16="http://schemas.microsoft.com/office/drawing/2014/main" id="{513F1485-275F-4B74-83ED-9E14958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演示文稿</a:t>
            </a:r>
          </a:p>
        </p:txBody>
      </p:sp>
      <p:sp>
        <p:nvSpPr>
          <p:cNvPr id="23" name="file-icon-docx">
            <a:extLst xmlns:a="http://schemas.openxmlformats.org/drawingml/2006/main">
              <a:ext uri="{FF2B5EF4-FFF2-40B4-BE49-F238E27FC236}">
                <a16:creationId xmlns:a16="http://schemas.microsoft.com/office/drawing/2014/main" id="{31B91280-B7CE-462C-9A40-3386689A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4" name="file-icon-docx-bar">
            <a:extLst xmlns:a="http://schemas.openxmlformats.org/drawingml/2006/main">
              <a:ext uri="{FF2B5EF4-FFF2-40B4-BE49-F238E27FC236}">
                <a16:creationId xmlns:a16="http://schemas.microsoft.com/office/drawing/2014/main" id="{7546D85F-8B19-4335-BEA9-B8CB55ED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64D8"/>
          </a:solidFill>
        </p:spPr>
      </p:sp>
      <p:sp>
        <p:nvSpPr>
          <p:cNvPr id="25" name="file-icon-docx-ext">
            <a:extLst xmlns:a="http://schemas.openxmlformats.org/drawingml/2006/main">
              <a:ext uri="{FF2B5EF4-FFF2-40B4-BE49-F238E27FC236}">
                <a16:creationId xmlns:a16="http://schemas.microsoft.com/office/drawing/2014/main" id="{24F4A8E0-9A12-4177-B25D-6A7A6DE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DOCX</a:t>
            </a:r>
          </a:p>
        </p:txBody>
      </p:sp>
      <p:sp>
        <p:nvSpPr>
          <p:cNvPr id="26" name="file-icon-docx-label">
            <a:extLst xmlns:a="http://schemas.openxmlformats.org/drawingml/2006/main">
              <a:ext uri="{FF2B5EF4-FFF2-40B4-BE49-F238E27FC236}">
                <a16:creationId xmlns:a16="http://schemas.microsoft.com/office/drawing/2014/main" id="{1AC14433-72FA-4137-99E2-5B7C5D8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文档</a:t>
            </a:r>
          </a:p>
        </p:txBody>
      </p:sp>
      <p:sp>
        <p:nvSpPr>
          <p:cNvPr id="27" name="file-icon-xlsx">
            <a:extLst xmlns:a="http://schemas.openxmlformats.org/drawingml/2006/main">
              <a:ext uri="{FF2B5EF4-FFF2-40B4-BE49-F238E27FC236}">
                <a16:creationId xmlns:a16="http://schemas.microsoft.com/office/drawing/2014/main" id="{5E28B67C-117B-4EE9-B5FF-40716EA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8305800"/>
            <a:ext cx="15430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8" name="file-icon-xlsx-bar">
            <a:extLst xmlns:a="http://schemas.openxmlformats.org/drawingml/2006/main">
              <a:ext uri="{FF2B5EF4-FFF2-40B4-BE49-F238E27FC236}">
                <a16:creationId xmlns:a16="http://schemas.microsoft.com/office/drawing/2014/main" id="{C03A7539-A722-477B-9039-F0D187B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8534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B59"/>
          </a:solidFill>
        </p:spPr>
      </p:sp>
      <p:sp>
        <p:nvSpPr>
          <p:cNvPr id="29" name="file-icon-xlsx-ext">
            <a:extLst xmlns:a="http://schemas.openxmlformats.org/drawingml/2006/main">
              <a:ext uri="{FF2B5EF4-FFF2-40B4-BE49-F238E27FC236}">
                <a16:creationId xmlns:a16="http://schemas.microsoft.com/office/drawing/2014/main" id="{8DE499E4-5BFB-4B4A-8614-03354E1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8705850"/>
            <a:ext cx="125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XLSX</a:t>
            </a:r>
          </a:p>
        </p:txBody>
      </p:sp>
      <p:sp>
        <p:nvSpPr>
          <p:cNvPr id="30" name="file-icon-xlsx-label">
            <a:extLst xmlns:a="http://schemas.openxmlformats.org/drawingml/2006/main">
              <a:ext uri="{FF2B5EF4-FFF2-40B4-BE49-F238E27FC236}">
                <a16:creationId xmlns:a16="http://schemas.microsoft.com/office/drawing/2014/main" id="{98A5777F-9B63-4FAB-AD85-35113B6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91821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表格</a:t>
            </a:r>
          </a:p>
        </p:txBody>
      </p:sp>
    </p:spTree>
    <p:extLst>
      <p:ext uri="{BB962C8B-B14F-4D97-AF65-F5344CB8AC3E}">
        <p14:creationId xmlns:p14="http://schemas.microsoft.com/office/powerpoint/2010/main" val="404366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bg">
            <a:extLst xmlns:a="http://schemas.openxmlformats.org/drawingml/2006/main">
              <a:ext uri="{FF2B5EF4-FFF2-40B4-BE49-F238E27FC236}">
                <a16:creationId xmlns:a16="http://schemas.microsoft.com/office/drawing/2014/main" id="{E3E0A1A2-9C83-41E7-BC9C-73172DD3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B0917BB-4596-43B9-A084-FBD1BEB0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主要功能：让本地知识先上场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66C1CCE3-5276-413D-B72A-C0C7451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078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06C"/>
                </a:solidFill>
              </a:defRPr>
            </a:pPr>
            <a:r>
              <a:rPr sz="2100">
                <a:solidFill>
                  <a:srgbClr val="59606C"/>
                </a:solidFill>
              </a:rPr>
              <a:t>不用手动翻文件夹；在 Codex 里写 Local Knowledge Bridge 或 lkb，就能把本地证据带进回答。</a:t>
            </a:r>
          </a:p>
        </p:txBody>
      </p:sp>
      <p:sp>
        <p:nvSpPr>
          <p:cNvPr id="4" name="feature-step-1-number">
            <a:extLst xmlns:a="http://schemas.openxmlformats.org/drawingml/2006/main">
              <a:ext uri="{FF2B5EF4-FFF2-40B4-BE49-F238E27FC236}">
                <a16:creationId xmlns:a16="http://schemas.microsoft.com/office/drawing/2014/main" id="{63092416-7D12-44EF-8337-A206FF7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8B7A"/>
                </a:solidFill>
              </a:defRPr>
            </a:pPr>
            <a:r>
              <a:rPr sz="3900" b="1">
                <a:solidFill>
                  <a:srgbClr val="008B7A"/>
                </a:solidFill>
              </a:rPr>
              <a:t>01</a:t>
            </a:r>
          </a:p>
        </p:txBody>
      </p:sp>
      <p:sp>
        <p:nvSpPr>
          <p:cNvPr id="5" name="feature-step-1-title">
            <a:extLst xmlns:a="http://schemas.openxmlformats.org/drawingml/2006/main">
              <a:ext uri="{FF2B5EF4-FFF2-40B4-BE49-F238E27FC236}">
                <a16:creationId xmlns:a16="http://schemas.microsoft.com/office/drawing/2014/main" id="{AC360985-FF85-4D4F-ADA6-B6908417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接入资料源</a:t>
            </a:r>
          </a:p>
        </p:txBody>
      </p:sp>
      <p:sp>
        <p:nvSpPr>
          <p:cNvPr id="6" name="feature-step-1-detail">
            <a:extLst xmlns:a="http://schemas.openxmlformats.org/drawingml/2006/main">
              <a:ext uri="{FF2B5EF4-FFF2-40B4-BE49-F238E27FC236}">
                <a16:creationId xmlns:a16="http://schemas.microsoft.com/office/drawing/2014/main" id="{AD3ADA92-51FA-42C6-8FFC-389D45A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06C"/>
                </a:solidFill>
              </a:defRPr>
            </a:pPr>
            <a:r>
              <a:rPr sz="1725">
                <a:solidFill>
                  <a:srgbClr val="59606C"/>
                </a:solidFill>
              </a:rPr>
              <a:t>Obsidian、EndNote、Zotero，以及本地文件夹统一进入检索层。</a:t>
            </a:r>
          </a:p>
        </p:txBody>
      </p:sp>
      <p:sp>
        <p:nvSpPr>
          <p:cNvPr id="7" name="feature-step-2-number">
            <a:extLst xmlns:a="http://schemas.openxmlformats.org/drawingml/2006/main">
              <a:ext uri="{FF2B5EF4-FFF2-40B4-BE49-F238E27FC236}">
                <a16:creationId xmlns:a16="http://schemas.microsoft.com/office/drawing/2014/main" id="{F6FB57DC-607E-4F48-A8DE-09360B3B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8605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65D2F"/>
                </a:solidFill>
              </a:defRPr>
            </a:pPr>
            <a:r>
              <a:rPr sz="3900" b="1">
                <a:solidFill>
                  <a:srgbClr val="E65D2F"/>
                </a:solidFill>
              </a:rPr>
              <a:t>02</a:t>
            </a:r>
          </a:p>
        </p:txBody>
      </p:sp>
      <p:sp>
        <p:nvSpPr>
          <p:cNvPr id="8" name="feature-step-2-title">
            <a:extLst xmlns:a="http://schemas.openxmlformats.org/drawingml/2006/main">
              <a:ext uri="{FF2B5EF4-FFF2-40B4-BE49-F238E27FC236}">
                <a16:creationId xmlns:a16="http://schemas.microsoft.com/office/drawing/2014/main" id="{4BC82854-C944-4F15-A9D0-B45816E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29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读取常见文件</a:t>
            </a:r>
          </a:p>
        </p:txBody>
      </p:sp>
      <p:sp>
        <p:nvSpPr>
          <p:cNvPr id="9" name="feature-step-2-detail">
            <a:extLst xmlns:a="http://schemas.openxmlformats.org/drawingml/2006/main">
              <a:ext uri="{FF2B5EF4-FFF2-40B4-BE49-F238E27FC236}">
                <a16:creationId xmlns:a16="http://schemas.microsoft.com/office/drawing/2014/main" id="{CA2DAD46-AC25-46B3-A03C-DD5765A4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624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06C"/>
                </a:solidFill>
              </a:defRPr>
            </a:pPr>
            <a:r>
              <a:rPr sz="1725">
                <a:solidFill>
                  <a:srgbClr val="59606C"/>
                </a:solidFill>
              </a:rPr>
              <a:t>PDF、MD、TXT、PPTX、DOCX、XLSX 都能成为可检索材料。</a:t>
            </a:r>
          </a:p>
        </p:txBody>
      </p:sp>
      <p:sp>
        <p:nvSpPr>
          <p:cNvPr id="10" name="feature-step-3-number">
            <a:extLst xmlns:a="http://schemas.openxmlformats.org/drawingml/2006/main">
              <a:ext uri="{FF2B5EF4-FFF2-40B4-BE49-F238E27FC236}">
                <a16:creationId xmlns:a16="http://schemas.microsoft.com/office/drawing/2014/main" id="{6360C62D-D374-469F-BE7E-2A51DDB5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4B64D8"/>
                </a:solidFill>
              </a:defRPr>
            </a:pPr>
            <a:r>
              <a:rPr sz="3900" b="1">
                <a:solidFill>
                  <a:srgbClr val="4B64D8"/>
                </a:solidFill>
              </a:rPr>
              <a:t>03</a:t>
            </a:r>
          </a:p>
        </p:txBody>
      </p:sp>
      <p:sp>
        <p:nvSpPr>
          <p:cNvPr id="11" name="feature-step-3-title">
            <a:extLst xmlns:a="http://schemas.openxmlformats.org/drawingml/2006/main">
              <a:ext uri="{FF2B5EF4-FFF2-40B4-BE49-F238E27FC236}">
                <a16:creationId xmlns:a16="http://schemas.microsoft.com/office/drawing/2014/main" id="{E0A325A2-5180-46A7-AF8A-39B2F2D7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选择检索深度</a:t>
            </a:r>
          </a:p>
        </p:txBody>
      </p:sp>
      <p:sp>
        <p:nvSpPr>
          <p:cNvPr id="12" name="feature-step-3-detail">
            <a:extLst xmlns:a="http://schemas.openxmlformats.org/drawingml/2006/main">
              <a:ext uri="{FF2B5EF4-FFF2-40B4-BE49-F238E27FC236}">
                <a16:creationId xmlns:a16="http://schemas.microsoft.com/office/drawing/2014/main" id="{D5F3AC74-66CA-4E67-BA01-E045867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624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06C"/>
                </a:solidFill>
              </a:defRPr>
            </a:pPr>
            <a:r>
              <a:rPr sz="1725">
                <a:solidFill>
                  <a:srgbClr val="59606C"/>
                </a:solidFill>
              </a:rPr>
              <a:t>fast 快速查找，balanced 扩展证据，deep 做本地语义检索。</a:t>
            </a:r>
          </a:p>
        </p:txBody>
      </p:sp>
      <p:sp>
        <p:nvSpPr>
          <p:cNvPr id="13" name="feature-step-4-number">
            <a:extLst xmlns:a="http://schemas.openxmlformats.org/drawingml/2006/main">
              <a:ext uri="{FF2B5EF4-FFF2-40B4-BE49-F238E27FC236}">
                <a16:creationId xmlns:a16="http://schemas.microsoft.com/office/drawing/2014/main" id="{4E540B4B-FF02-41CE-B134-F98CF69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686050"/>
            <a:ext cx="3619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D9B59"/>
                </a:solidFill>
              </a:defRPr>
            </a:pPr>
            <a:r>
              <a:rPr sz="3900" b="1">
                <a:solidFill>
                  <a:srgbClr val="2D9B59"/>
                </a:solidFill>
              </a:rPr>
              <a:t>04</a:t>
            </a:r>
          </a:p>
        </p:txBody>
      </p:sp>
      <p:sp>
        <p:nvSpPr>
          <p:cNvPr id="14" name="feature-step-4-title">
            <a:extLst xmlns:a="http://schemas.openxmlformats.org/drawingml/2006/main">
              <a:ext uri="{FF2B5EF4-FFF2-40B4-BE49-F238E27FC236}">
                <a16:creationId xmlns:a16="http://schemas.microsoft.com/office/drawing/2014/main" id="{6E01B2D4-7543-4AB6-A615-7A5BADE0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42900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带证据回答</a:t>
            </a:r>
          </a:p>
        </p:txBody>
      </p:sp>
      <p:sp>
        <p:nvSpPr>
          <p:cNvPr id="15" name="feature-step-4-detail">
            <a:extLst xmlns:a="http://schemas.openxmlformats.org/drawingml/2006/main">
              <a:ext uri="{FF2B5EF4-FFF2-40B4-BE49-F238E27FC236}">
                <a16:creationId xmlns:a16="http://schemas.microsoft.com/office/drawing/2014/main" id="{EC4088C5-511C-43E5-9824-8DB90E33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9624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06C"/>
                </a:solidFill>
              </a:defRPr>
            </a:pPr>
            <a:r>
              <a:rPr sz="1725">
                <a:solidFill>
                  <a:srgbClr val="59606C"/>
                </a:solidFill>
              </a:rPr>
              <a:t>先查你的笔记、论文、批注和文档，再组织成可追溯答案。</a:t>
            </a:r>
          </a:p>
        </p:txBody>
      </p:sp>
      <p:sp>
        <p:nvSpPr>
          <p:cNvPr id="16" name="feature-bottom-mark">
            <a:extLst xmlns:a="http://schemas.openxmlformats.org/drawingml/2006/main">
              <a:ext uri="{FF2B5EF4-FFF2-40B4-BE49-F238E27FC236}">
                <a16:creationId xmlns:a16="http://schemas.microsoft.com/office/drawing/2014/main" id="{7B12B6BF-E53A-429B-8067-659B8AF7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67800"/>
            <a:ext cx="1333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7A"/>
          </a:solidFill>
        </p:spPr>
      </p:sp>
      <p:sp>
        <p:nvSpPr>
          <p:cNvPr id="17" name="feature-bottom-copy">
            <a:extLst xmlns:a="http://schemas.openxmlformats.org/drawingml/2006/main">
              <a:ext uri="{FF2B5EF4-FFF2-40B4-BE49-F238E27FC236}">
                <a16:creationId xmlns:a16="http://schemas.microsoft.com/office/drawing/2014/main" id="{690BB3F8-A984-44D1-A704-9168F9E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144000"/>
            <a:ext cx="1623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核心体验：像平常聊天一样提问，但答案会先从自己的资料里找依据。</a:t>
            </a:r>
          </a:p>
        </p:txBody>
      </p:sp>
    </p:spTree>
    <p:extLst>
      <p:ext uri="{BB962C8B-B14F-4D97-AF65-F5344CB8AC3E}">
        <p14:creationId xmlns:p14="http://schemas.microsoft.com/office/powerpoint/2010/main" val="10933434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bg">
            <a:extLst xmlns:a="http://schemas.openxmlformats.org/drawingml/2006/main">
              <a:ext uri="{FF2B5EF4-FFF2-40B4-BE49-F238E27FC236}">
                <a16:creationId xmlns:a16="http://schemas.microsoft.com/office/drawing/2014/main" id="{8F8BF78A-8384-4AD3-8077-1D64250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BF34FFB-95E8-4AD3-8AB5-92318A3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A"/>
                </a:solidFill>
              </a:defRPr>
            </a:pPr>
            <a:r>
              <a:rPr sz="4350" b="1">
                <a:solidFill>
                  <a:srgbClr val="FFF8EA"/>
                </a:solidFill>
              </a:rPr>
              <a:t>底层原理：先建本地索引，再把证据交给 AI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564E8623-9611-4038-B3FD-D5213BE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8134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BD5DB"/>
                </a:solidFill>
              </a:defRPr>
            </a:pPr>
            <a:r>
              <a:rPr sz="2100">
                <a:solidFill>
                  <a:srgbClr val="CBD5DB"/>
                </a:solidFill>
              </a:rPr>
              <a:t>轻量检索和 deep 检索分开运行，速度、成本和效果可以按场景选择。</a:t>
            </a:r>
          </a:p>
        </p:txBody>
      </p:sp>
      <p:sp>
        <p:nvSpPr>
          <p:cNvPr id="4" name="principle-main-claim">
            <a:extLst xmlns:a="http://schemas.openxmlformats.org/drawingml/2006/main">
              <a:ext uri="{FF2B5EF4-FFF2-40B4-BE49-F238E27FC236}">
                <a16:creationId xmlns:a16="http://schemas.microsoft.com/office/drawing/2014/main" id="{D648672B-F278-4A29-AB65-8E4C0667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572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8EA"/>
                </a:solidFill>
              </a:defRPr>
            </a:pPr>
            <a:r>
              <a:rPr sz="3450" b="1">
                <a:solidFill>
                  <a:srgbClr val="FFF8EA"/>
                </a:solidFill>
              </a:rPr>
              <a:t>它不是把资料上传到远端，而是在本机建立一条可检索通道。</a:t>
            </a:r>
          </a:p>
        </p:txBody>
      </p:sp>
      <p:sp>
        <p:nvSpPr>
          <p:cNvPr id="5" name="principle-rule">
            <a:extLst xmlns:a="http://schemas.openxmlformats.org/drawingml/2006/main">
              <a:ext uri="{FF2B5EF4-FFF2-40B4-BE49-F238E27FC236}">
                <a16:creationId xmlns:a16="http://schemas.microsoft.com/office/drawing/2014/main" id="{492ECDFC-B26A-42DA-A446-379F20E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D2F"/>
          </a:solidFill>
          <a:ln xmlns:a="http://schemas.openxmlformats.org/drawingml/2006/main" w="0">
            <a:solidFill>
              <a:srgbClr val="E65D2F"/>
            </a:solidFill>
            <a:prstDash val="solid"/>
          </a:ln>
        </p:spPr>
      </p:sp>
      <p:sp>
        <p:nvSpPr>
          <p:cNvPr id="6" name="principle-detail">
            <a:extLst xmlns:a="http://schemas.openxmlformats.org/drawingml/2006/main">
              <a:ext uri="{FF2B5EF4-FFF2-40B4-BE49-F238E27FC236}">
                <a16:creationId xmlns:a16="http://schemas.microsoft.com/office/drawing/2014/main" id="{5DBD85F0-2C5F-462D-8DAA-FA8B622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66294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D8E1E4"/>
                </a:solidFill>
              </a:defRPr>
            </a:pPr>
            <a:r>
              <a:rPr sz="2175">
                <a:solidFill>
                  <a:srgbClr val="D8E1E4"/>
                </a:solidFill>
              </a:rPr>
              <a:t>默认只读：索引、配置、日志、模型都留在本机。轻量模式不加载 deep 模型；需要更深语义检索时，再启用 deep。</a:t>
            </a:r>
          </a:p>
        </p:txBody>
      </p:sp>
      <p:sp>
        <p:nvSpPr>
          <p:cNvPr id="7" name="pipeline-解析与分块">
            <a:extLst xmlns:a="http://schemas.openxmlformats.org/drawingml/2006/main">
              <a:ext uri="{FF2B5EF4-FFF2-40B4-BE49-F238E27FC236}">
                <a16:creationId xmlns:a16="http://schemas.microsoft.com/office/drawing/2014/main" id="{CB7B7B34-A797-4B80-AB21-344E256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3310890"/>
            <a:ext cx="864108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8" name="pipeline-dot-解析与分块">
            <a:extLst xmlns:a="http://schemas.openxmlformats.org/drawingml/2006/main">
              <a:ext uri="{FF2B5EF4-FFF2-40B4-BE49-F238E27FC236}">
                <a16:creationId xmlns:a16="http://schemas.microsoft.com/office/drawing/2014/main" id="{A903DC27-787C-4BFD-92ED-82E6ADA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57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B7A"/>
          </a:solidFill>
        </p:spPr>
      </p:sp>
      <p:sp>
        <p:nvSpPr>
          <p:cNvPr id="9" name="pipeline-title-解析与分块">
            <a:extLst xmlns:a="http://schemas.openxmlformats.org/drawingml/2006/main">
              <a:ext uri="{FF2B5EF4-FFF2-40B4-BE49-F238E27FC236}">
                <a16:creationId xmlns:a16="http://schemas.microsoft.com/office/drawing/2014/main" id="{ABA44E14-E28F-45FD-8899-79733F71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解析与分块</a:t>
            </a:r>
          </a:p>
        </p:txBody>
      </p:sp>
      <p:sp>
        <p:nvSpPr>
          <p:cNvPr id="10" name="pipeline-detail-解析与分块">
            <a:extLst xmlns:a="http://schemas.openxmlformats.org/drawingml/2006/main">
              <a:ext uri="{FF2B5EF4-FFF2-40B4-BE49-F238E27FC236}">
                <a16:creationId xmlns:a16="http://schemas.microsoft.com/office/drawing/2014/main" id="{749EA99E-E6C9-4009-90A6-BE4C26D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784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把笔记、论文附件和 Office 文件整理成可索引文本</a:t>
            </a:r>
          </a:p>
        </p:txBody>
      </p:sp>
      <p:sp>
        <p:nvSpPr>
          <p:cNvPr id="11" name="pipeline-SQLite FTS5">
            <a:extLst xmlns:a="http://schemas.openxmlformats.org/drawingml/2006/main">
              <a:ext uri="{FF2B5EF4-FFF2-40B4-BE49-F238E27FC236}">
                <a16:creationId xmlns:a16="http://schemas.microsoft.com/office/drawing/2014/main" id="{CB368FA6-DE6F-4658-8E0F-BEC51CCE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4301490"/>
            <a:ext cx="864108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12" name="pipeline-dot-SQLite FTS5">
            <a:extLst xmlns:a="http://schemas.openxmlformats.org/drawingml/2006/main">
              <a:ext uri="{FF2B5EF4-FFF2-40B4-BE49-F238E27FC236}">
                <a16:creationId xmlns:a16="http://schemas.microsoft.com/office/drawing/2014/main" id="{37CEC2C4-DA44-441D-B4B4-A836C19C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B16"/>
          </a:solidFill>
        </p:spPr>
      </p:sp>
      <p:sp>
        <p:nvSpPr>
          <p:cNvPr id="13" name="pipeline-title-SQLite FTS5">
            <a:extLst xmlns:a="http://schemas.openxmlformats.org/drawingml/2006/main">
              <a:ext uri="{FF2B5EF4-FFF2-40B4-BE49-F238E27FC236}">
                <a16:creationId xmlns:a16="http://schemas.microsoft.com/office/drawing/2014/main" id="{559067F8-1266-4C0F-AA68-7D40498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77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SQLite FTS5</a:t>
            </a:r>
          </a:p>
        </p:txBody>
      </p:sp>
      <p:sp>
        <p:nvSpPr>
          <p:cNvPr id="14" name="pipeline-detail-SQLite FTS5">
            <a:extLst xmlns:a="http://schemas.openxmlformats.org/drawingml/2006/main">
              <a:ext uri="{FF2B5EF4-FFF2-40B4-BE49-F238E27FC236}">
                <a16:creationId xmlns:a16="http://schemas.microsoft.com/office/drawing/2014/main" id="{2AAAE3F2-17E5-49F7-B071-9868C41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43450"/>
            <a:ext cx="784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fast / balanced 使用轻量本地词法检索</a:t>
            </a:r>
          </a:p>
        </p:txBody>
      </p:sp>
      <p:sp>
        <p:nvSpPr>
          <p:cNvPr id="15" name="pipeline-混合评分与 RRF">
            <a:extLst xmlns:a="http://schemas.openxmlformats.org/drawingml/2006/main">
              <a:ext uri="{FF2B5EF4-FFF2-40B4-BE49-F238E27FC236}">
                <a16:creationId xmlns:a16="http://schemas.microsoft.com/office/drawing/2014/main" id="{11265A47-4351-4334-9238-CC902B0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5292090"/>
            <a:ext cx="864108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16" name="pipeline-dot-混合评分与 RRF">
            <a:extLst xmlns:a="http://schemas.openxmlformats.org/drawingml/2006/main">
              <a:ext uri="{FF2B5EF4-FFF2-40B4-BE49-F238E27FC236}">
                <a16:creationId xmlns:a16="http://schemas.microsoft.com/office/drawing/2014/main" id="{EED4CA8B-1FEA-4AC2-B71E-1B6EE4E0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38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D2F"/>
          </a:solidFill>
        </p:spPr>
      </p:sp>
      <p:sp>
        <p:nvSpPr>
          <p:cNvPr id="17" name="pipeline-title-混合评分与 RRF">
            <a:extLst xmlns:a="http://schemas.openxmlformats.org/drawingml/2006/main">
              <a:ext uri="{FF2B5EF4-FFF2-40B4-BE49-F238E27FC236}">
                <a16:creationId xmlns:a16="http://schemas.microsoft.com/office/drawing/2014/main" id="{85DBAB03-15AC-4BDD-84FB-3604D052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483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混合评分与 RRF</a:t>
            </a:r>
          </a:p>
        </p:txBody>
      </p:sp>
      <p:sp>
        <p:nvSpPr>
          <p:cNvPr id="18" name="pipeline-detail-混合评分与 RRF">
            <a:extLst xmlns:a="http://schemas.openxmlformats.org/drawingml/2006/main">
              <a:ext uri="{FF2B5EF4-FFF2-40B4-BE49-F238E27FC236}">
                <a16:creationId xmlns:a16="http://schemas.microsoft.com/office/drawing/2014/main" id="{81493602-59DD-44DC-83E8-E1C28E3B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34050"/>
            <a:ext cx="784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按来源路线、权重和排名融合证据</a:t>
            </a:r>
          </a:p>
        </p:txBody>
      </p:sp>
      <p:sp>
        <p:nvSpPr>
          <p:cNvPr id="19" name="pipeline-deep 可选">
            <a:extLst xmlns:a="http://schemas.openxmlformats.org/drawingml/2006/main">
              <a:ext uri="{FF2B5EF4-FFF2-40B4-BE49-F238E27FC236}">
                <a16:creationId xmlns:a16="http://schemas.microsoft.com/office/drawing/2014/main" id="{B551D576-B0DC-4DB1-970C-C83DDE53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6282690"/>
            <a:ext cx="864108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0" name="pipeline-dot-deep 可选">
            <a:extLst xmlns:a="http://schemas.openxmlformats.org/drawingml/2006/main">
              <a:ext uri="{FF2B5EF4-FFF2-40B4-BE49-F238E27FC236}">
                <a16:creationId xmlns:a16="http://schemas.microsoft.com/office/drawing/2014/main" id="{D5EAE417-E37D-4C51-B6E7-DABC96B7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62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4D8"/>
          </a:solidFill>
        </p:spPr>
      </p:sp>
      <p:sp>
        <p:nvSpPr>
          <p:cNvPr id="21" name="pipeline-title-deep 可选">
            <a:extLst xmlns:a="http://schemas.openxmlformats.org/drawingml/2006/main">
              <a:ext uri="{FF2B5EF4-FFF2-40B4-BE49-F238E27FC236}">
                <a16:creationId xmlns:a16="http://schemas.microsoft.com/office/drawing/2014/main" id="{271AE42B-FE83-4289-9BF1-4CBA7B7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389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deep 可选</a:t>
            </a:r>
          </a:p>
        </p:txBody>
      </p:sp>
      <p:sp>
        <p:nvSpPr>
          <p:cNvPr id="22" name="pipeline-detail-deep 可选">
            <a:extLst xmlns:a="http://schemas.openxmlformats.org/drawingml/2006/main">
              <a:ext uri="{FF2B5EF4-FFF2-40B4-BE49-F238E27FC236}">
                <a16:creationId xmlns:a16="http://schemas.microsoft.com/office/drawing/2014/main" id="{08D4DBD1-BFD9-4785-A49C-EF9F109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724650"/>
            <a:ext cx="784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本地 bge-m3 embedding + reranker 做语义增强</a:t>
            </a:r>
          </a:p>
        </p:txBody>
      </p:sp>
      <p:sp>
        <p:nvSpPr>
          <p:cNvPr id="23" name="pipeline-带来源回答">
            <a:extLst xmlns:a="http://schemas.openxmlformats.org/drawingml/2006/main">
              <a:ext uri="{FF2B5EF4-FFF2-40B4-BE49-F238E27FC236}">
                <a16:creationId xmlns:a16="http://schemas.microsoft.com/office/drawing/2014/main" id="{BEBA934F-99A6-43B2-81A1-A6DF21A9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7273290"/>
            <a:ext cx="864108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A"/>
          </a:solidFill>
        </p:spPr>
      </p:sp>
      <p:sp>
        <p:nvSpPr>
          <p:cNvPr id="24" name="pipeline-dot-带来源回答">
            <a:extLst xmlns:a="http://schemas.openxmlformats.org/drawingml/2006/main">
              <a:ext uri="{FF2B5EF4-FFF2-40B4-BE49-F238E27FC236}">
                <a16:creationId xmlns:a16="http://schemas.microsoft.com/office/drawing/2014/main" id="{42BCE166-E1F6-4657-B210-DD71867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620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59"/>
          </a:solidFill>
        </p:spPr>
      </p:sp>
      <p:sp>
        <p:nvSpPr>
          <p:cNvPr id="25" name="pipeline-title-带来源回答">
            <a:extLst xmlns:a="http://schemas.openxmlformats.org/drawingml/2006/main">
              <a:ext uri="{FF2B5EF4-FFF2-40B4-BE49-F238E27FC236}">
                <a16:creationId xmlns:a16="http://schemas.microsoft.com/office/drawing/2014/main" id="{B0976848-7329-408B-9A52-4E1CBA0B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4295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带来源回答</a:t>
            </a:r>
          </a:p>
        </p:txBody>
      </p:sp>
      <p:sp>
        <p:nvSpPr>
          <p:cNvPr id="26" name="pipeline-detail-带来源回答">
            <a:extLst xmlns:a="http://schemas.openxmlformats.org/drawingml/2006/main">
              <a:ext uri="{FF2B5EF4-FFF2-40B4-BE49-F238E27FC236}">
                <a16:creationId xmlns:a16="http://schemas.microsoft.com/office/drawing/2014/main" id="{C9A4417A-703B-4BDC-B268-4FA75E2B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715250"/>
            <a:ext cx="7848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06C"/>
                </a:solidFill>
              </a:defRPr>
            </a:pPr>
            <a:r>
              <a:rPr sz="1200">
                <a:solidFill>
                  <a:srgbClr val="59606C"/>
                </a:solidFill>
              </a:rPr>
              <a:t>回答里保留引用编号，方便回到原文件核对</a:t>
            </a:r>
          </a:p>
        </p:txBody>
      </p:sp>
      <p:sp>
        <p:nvSpPr>
          <p:cNvPr id="27" name="principle-footer-label">
            <a:extLst xmlns:a="http://schemas.openxmlformats.org/drawingml/2006/main">
              <a:ext uri="{FF2B5EF4-FFF2-40B4-BE49-F238E27FC236}">
                <a16:creationId xmlns:a16="http://schemas.microsoft.com/office/drawing/2014/main" id="{7FA30EEF-0FD6-4758-869C-52B5B47C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9640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65D2F"/>
                </a:solidFill>
              </a:defRPr>
            </a:pPr>
            <a:r>
              <a:rPr sz="2100" b="1">
                <a:solidFill>
                  <a:srgbClr val="E65D2F"/>
                </a:solidFill>
              </a:rPr>
              <a:t>优点</a:t>
            </a:r>
          </a:p>
        </p:txBody>
      </p:sp>
      <p:sp>
        <p:nvSpPr>
          <p:cNvPr id="28" name="adv-local">
            <a:extLst xmlns:a="http://schemas.openxmlformats.org/drawingml/2006/main">
              <a:ext uri="{FF2B5EF4-FFF2-40B4-BE49-F238E27FC236}">
                <a16:creationId xmlns:a16="http://schemas.microsoft.com/office/drawing/2014/main" id="{039958CF-BF38-45D8-8F78-935E72B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2964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A"/>
                </a:solidFill>
              </a:defRPr>
            </a:pPr>
            <a:r>
              <a:rPr sz="2100" b="1">
                <a:solidFill>
                  <a:srgbClr val="FFF8EA"/>
                </a:solidFill>
              </a:rPr>
              <a:t>本地优先</a:t>
            </a:r>
          </a:p>
        </p:txBody>
      </p:sp>
      <p:sp>
        <p:nvSpPr>
          <p:cNvPr id="29" name="adv-readonly">
            <a:extLst xmlns:a="http://schemas.openxmlformats.org/drawingml/2006/main">
              <a:ext uri="{FF2B5EF4-FFF2-40B4-BE49-F238E27FC236}">
                <a16:creationId xmlns:a16="http://schemas.microsoft.com/office/drawing/2014/main" id="{514BAC7B-E779-4682-BB08-CD42BC13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2964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A"/>
                </a:solidFill>
              </a:defRPr>
            </a:pPr>
            <a:r>
              <a:rPr sz="2100" b="1">
                <a:solidFill>
                  <a:srgbClr val="FFF8EA"/>
                </a:solidFill>
              </a:rPr>
              <a:t>默认只读</a:t>
            </a:r>
          </a:p>
        </p:txBody>
      </p:sp>
      <p:sp>
        <p:nvSpPr>
          <p:cNvPr id="30" name="adv-modes">
            <a:extLst xmlns:a="http://schemas.openxmlformats.org/drawingml/2006/main">
              <a:ext uri="{FF2B5EF4-FFF2-40B4-BE49-F238E27FC236}">
                <a16:creationId xmlns:a16="http://schemas.microsoft.com/office/drawing/2014/main" id="{923EF06C-017D-4F62-984F-368DC73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2964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A"/>
                </a:solidFill>
              </a:defRPr>
            </a:pPr>
            <a:r>
              <a:rPr sz="2100" b="1">
                <a:solidFill>
                  <a:srgbClr val="FFF8EA"/>
                </a:solidFill>
              </a:rPr>
              <a:t>快慢可选</a:t>
            </a:r>
          </a:p>
        </p:txBody>
      </p:sp>
      <p:sp>
        <p:nvSpPr>
          <p:cNvPr id="31" name="adv-source">
            <a:extLst xmlns:a="http://schemas.openxmlformats.org/drawingml/2006/main">
              <a:ext uri="{FF2B5EF4-FFF2-40B4-BE49-F238E27FC236}">
                <a16:creationId xmlns:a16="http://schemas.microsoft.com/office/drawing/2014/main" id="{01C9FD6C-B4B1-4ADD-85D8-C232A242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29640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8EA"/>
                </a:solidFill>
              </a:defRPr>
            </a:pPr>
            <a:r>
              <a:rPr sz="2100" b="1">
                <a:solidFill>
                  <a:srgbClr val="FFF8EA"/>
                </a:solidFill>
              </a:rPr>
              <a:t>证据可回查</a:t>
            </a:r>
          </a:p>
        </p:txBody>
      </p:sp>
    </p:spTree>
    <p:extLst>
      <p:ext uri="{BB962C8B-B14F-4D97-AF65-F5344CB8AC3E}">
        <p14:creationId xmlns:p14="http://schemas.microsoft.com/office/powerpoint/2010/main" val="4399207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bg">
            <a:extLst xmlns:a="http://schemas.openxmlformats.org/drawingml/2006/main">
              <a:ext uri="{FF2B5EF4-FFF2-40B4-BE49-F238E27FC236}">
                <a16:creationId xmlns:a16="http://schemas.microsoft.com/office/drawing/2014/main" id="{E3585CB9-155B-4C2D-8FDB-D0EB26A7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7B09FF0-A8E1-4902-913E-404632F4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部署和使用：两步装好，直接开问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A0177B7A-06B6-4F76-8A30-8910FFA3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06C"/>
                </a:solidFill>
              </a:defRPr>
            </a:pPr>
            <a:r>
              <a:rPr sz="2100">
                <a:solidFill>
                  <a:srgbClr val="59606C"/>
                </a:solidFill>
              </a:rPr>
              <a:t>README 的推荐入口很明确：先下载解压，再运行安装向导。</a:t>
            </a:r>
          </a:p>
        </p:txBody>
      </p:sp>
      <p:sp>
        <p:nvSpPr>
          <p:cNvPr id="4" name="deploy-step-1-num">
            <a:extLst xmlns:a="http://schemas.openxmlformats.org/drawingml/2006/main">
              <a:ext uri="{FF2B5EF4-FFF2-40B4-BE49-F238E27FC236}">
                <a16:creationId xmlns:a16="http://schemas.microsoft.com/office/drawing/2014/main" id="{E6447A45-FC04-42B6-9EC9-85702F3D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8B7A"/>
                </a:solidFill>
              </a:defRPr>
            </a:pPr>
            <a:r>
              <a:rPr sz="3600" b="1">
                <a:solidFill>
                  <a:srgbClr val="008B7A"/>
                </a:solidFill>
              </a:rPr>
              <a:t>01</a:t>
            </a:r>
          </a:p>
        </p:txBody>
      </p:sp>
      <p:sp>
        <p:nvSpPr>
          <p:cNvPr id="5" name="deploy-step-1-title">
            <a:extLst xmlns:a="http://schemas.openxmlformats.org/drawingml/2006/main">
              <a:ext uri="{FF2B5EF4-FFF2-40B4-BE49-F238E27FC236}">
                <a16:creationId xmlns:a16="http://schemas.microsoft.com/office/drawing/2014/main" id="{7C9FC8F7-D9A5-4C75-9CD6-19B9DC2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38600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下载并解压</a:t>
            </a:r>
          </a:p>
        </p:txBody>
      </p:sp>
      <p:sp>
        <p:nvSpPr>
          <p:cNvPr id="6" name="deploy-step-1-copy">
            <a:extLst xmlns:a="http://schemas.openxmlformats.org/drawingml/2006/main">
              <a:ext uri="{FF2B5EF4-FFF2-40B4-BE49-F238E27FC236}">
                <a16:creationId xmlns:a16="http://schemas.microsoft.com/office/drawing/2014/main" id="{D342E9AE-759B-4304-86A4-0BC188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06C"/>
                </a:solidFill>
              </a:defRPr>
            </a:pPr>
            <a:r>
              <a:rPr sz="1800">
                <a:solidFill>
                  <a:srgbClr val="59606C"/>
                </a:solidFill>
              </a:rPr>
              <a:t>进入项目里的 local-knowledge-bridge 目录。</a:t>
            </a:r>
          </a:p>
        </p:txBody>
      </p:sp>
      <p:sp>
        <p:nvSpPr>
          <p:cNvPr id="7" name="deploy-step-2-num">
            <a:extLst xmlns:a="http://schemas.openxmlformats.org/drawingml/2006/main">
              <a:ext uri="{FF2B5EF4-FFF2-40B4-BE49-F238E27FC236}">
                <a16:creationId xmlns:a16="http://schemas.microsoft.com/office/drawing/2014/main" id="{E1EBE63C-F6E8-4617-99BA-E6FB30AE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65D2F"/>
                </a:solidFill>
              </a:defRPr>
            </a:pPr>
            <a:r>
              <a:rPr sz="3600" b="1">
                <a:solidFill>
                  <a:srgbClr val="E65D2F"/>
                </a:solidFill>
              </a:rPr>
              <a:t>02</a:t>
            </a:r>
          </a:p>
        </p:txBody>
      </p:sp>
      <p:sp>
        <p:nvSpPr>
          <p:cNvPr id="8" name="deploy-step-2-title">
            <a:extLst xmlns:a="http://schemas.openxmlformats.org/drawingml/2006/main">
              <a:ext uri="{FF2B5EF4-FFF2-40B4-BE49-F238E27FC236}">
                <a16:creationId xmlns:a16="http://schemas.microsoft.com/office/drawing/2014/main" id="{E59775F0-220C-4C28-B064-74B6E07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67300"/>
            <a:ext cx="609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运行安装程序</a:t>
            </a:r>
          </a:p>
        </p:txBody>
      </p:sp>
      <p:sp>
        <p:nvSpPr>
          <p:cNvPr id="9" name="deploy-step-2-copy">
            <a:extLst xmlns:a="http://schemas.openxmlformats.org/drawingml/2006/main">
              <a:ext uri="{FF2B5EF4-FFF2-40B4-BE49-F238E27FC236}">
                <a16:creationId xmlns:a16="http://schemas.microsoft.com/office/drawing/2014/main" id="{D9B9E3F7-20F2-4FFA-A7B9-1BD09A74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24500"/>
            <a:ext cx="609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06C"/>
                </a:solidFill>
              </a:defRPr>
            </a:pPr>
            <a:r>
              <a:rPr sz="1800">
                <a:solidFill>
                  <a:srgbClr val="59606C"/>
                </a:solidFill>
              </a:rPr>
              <a:t>按向导配置已有部署或安装 / 重新部署，并添加数据源。</a:t>
            </a:r>
          </a:p>
        </p:txBody>
      </p:sp>
      <p:sp>
        <p:nvSpPr>
          <p:cNvPr id="10" name="deploy-code-panel">
            <a:extLst xmlns:a="http://schemas.openxmlformats.org/drawingml/2006/main">
              <a:ext uri="{FF2B5EF4-FFF2-40B4-BE49-F238E27FC236}">
                <a16:creationId xmlns:a16="http://schemas.microsoft.com/office/drawing/2014/main" id="{3EF25806-32C5-4774-B81F-FEABF207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4570"/>
            <a:ext cx="7209473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01820"/>
          </a:solidFill>
        </p:spPr>
      </p:sp>
      <p:sp>
        <p:nvSpPr>
          <p:cNvPr id="11" name="deploy-code-1">
            <a:extLst xmlns:a="http://schemas.openxmlformats.org/drawingml/2006/main">
              <a:ext uri="{FF2B5EF4-FFF2-40B4-BE49-F238E27FC236}">
                <a16:creationId xmlns:a16="http://schemas.microsoft.com/office/drawing/2014/main" id="{59E4A1BA-535C-43DD-9B37-8EB96C5D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86500"/>
            <a:ext cx="670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8EA"/>
                </a:solidFill>
              </a:defRPr>
            </a:pPr>
            <a:r>
              <a:rPr sz="1800">
                <a:solidFill>
                  <a:srgbClr val="FFF8EA"/>
                </a:solidFill>
              </a:rPr>
              <a:t>cd &lt;repo&gt;\local-knowledge-bridge</a:t>
            </a:r>
          </a:p>
        </p:txBody>
      </p:sp>
      <p:sp>
        <p:nvSpPr>
          <p:cNvPr id="12" name="deploy-code-2">
            <a:extLst xmlns:a="http://schemas.openxmlformats.org/drawingml/2006/main">
              <a:ext uri="{FF2B5EF4-FFF2-40B4-BE49-F238E27FC236}">
                <a16:creationId xmlns:a16="http://schemas.microsoft.com/office/drawing/2014/main" id="{EE2BE695-BDC1-4378-A781-2CE13040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86550"/>
            <a:ext cx="670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FF2DF"/>
                </a:solidFill>
              </a:defRPr>
            </a:pPr>
            <a:r>
              <a:rPr sz="1950">
                <a:solidFill>
                  <a:srgbClr val="9FF2DF"/>
                </a:solidFill>
              </a:rPr>
              <a:t>.\lkb_setup.cmd</a:t>
            </a:r>
          </a:p>
        </p:txBody>
      </p:sp>
      <p:sp>
        <p:nvSpPr>
          <p:cNvPr id="13" name="examples-title">
            <a:extLst xmlns:a="http://schemas.openxmlformats.org/drawingml/2006/main">
              <a:ext uri="{FF2B5EF4-FFF2-40B4-BE49-F238E27FC236}">
                <a16:creationId xmlns:a16="http://schemas.microsoft.com/office/drawing/2014/main" id="{E3900620-3067-444C-973A-5AF783D6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86300"/>
            <a:ext cx="8820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像这样在 Codex 里问</a:t>
            </a:r>
          </a:p>
        </p:txBody>
      </p:sp>
      <p:sp>
        <p:nvSpPr>
          <p:cNvPr id="14" name="example-mark-$Local">
            <a:extLst xmlns:a="http://schemas.openxmlformats.org/drawingml/2006/main">
              <a:ext uri="{FF2B5EF4-FFF2-40B4-BE49-F238E27FC236}">
                <a16:creationId xmlns:a16="http://schemas.microsoft.com/office/drawing/2014/main" id="{CE43D462-A738-46E7-86B3-3CC16A4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959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7A"/>
          </a:solidFill>
        </p:spPr>
      </p:sp>
      <p:sp>
        <p:nvSpPr>
          <p:cNvPr id="15" name="example-$Local K">
            <a:extLst xmlns:a="http://schemas.openxmlformats.org/drawingml/2006/main">
              <a:ext uri="{FF2B5EF4-FFF2-40B4-BE49-F238E27FC236}">
                <a16:creationId xmlns:a16="http://schemas.microsoft.com/office/drawing/2014/main" id="{FFD5B426-5FA9-4247-B1B4-86051FBD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859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$Local Knowledge Bridge：查找我关于 Transformer 模型压缩的笔记，并总结主要方法。</a:t>
            </a:r>
          </a:p>
        </p:txBody>
      </p:sp>
      <p:sp>
        <p:nvSpPr>
          <p:cNvPr id="16" name="example-mark-基于我的 Z">
            <a:extLst xmlns:a="http://schemas.openxmlformats.org/drawingml/2006/main">
              <a:ext uri="{FF2B5EF4-FFF2-40B4-BE49-F238E27FC236}">
                <a16:creationId xmlns:a16="http://schemas.microsoft.com/office/drawing/2014/main" id="{8950B5B1-7746-4A8A-89F8-B4D2A6C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912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D2F"/>
          </a:solidFill>
        </p:spPr>
      </p:sp>
      <p:sp>
        <p:nvSpPr>
          <p:cNvPr id="17" name="example-基于我的 Zot">
            <a:extLst xmlns:a="http://schemas.openxmlformats.org/drawingml/2006/main">
              <a:ext uri="{FF2B5EF4-FFF2-40B4-BE49-F238E27FC236}">
                <a16:creationId xmlns:a16="http://schemas.microsoft.com/office/drawing/2014/main" id="{7417D84E-DF33-4A8D-9057-AB3A4350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91200"/>
            <a:ext cx="859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基于我的 Zotero 和 Obsidian 资料，用 lkb 查找我关于固态电池电解质材料有哪些内容。</a:t>
            </a:r>
          </a:p>
        </p:txBody>
      </p:sp>
      <p:sp>
        <p:nvSpPr>
          <p:cNvPr id="18" name="example-mark-lkb，使用">
            <a:extLst xmlns:a="http://schemas.openxmlformats.org/drawingml/2006/main">
              <a:ext uri="{FF2B5EF4-FFF2-40B4-BE49-F238E27FC236}">
                <a16:creationId xmlns:a16="http://schemas.microsoft.com/office/drawing/2014/main" id="{42BCD842-279F-4772-87E2-2AC6B4D2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248400"/>
            <a:ext cx="95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64D8"/>
          </a:solidFill>
        </p:spPr>
      </p:sp>
      <p:sp>
        <p:nvSpPr>
          <p:cNvPr id="19" name="example-lkb，使用 d">
            <a:extLst xmlns:a="http://schemas.openxmlformats.org/drawingml/2006/main">
              <a:ext uri="{FF2B5EF4-FFF2-40B4-BE49-F238E27FC236}">
                <a16:creationId xmlns:a16="http://schemas.microsoft.com/office/drawing/2014/main" id="{8D3D9292-E432-4CE4-9A38-4EA84FE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67450"/>
            <a:ext cx="859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lkb，使用 deep 模式，基于我的本地论文整理一份关于被动线性光学的简短报告。</a:t>
            </a:r>
          </a:p>
        </p:txBody>
      </p:sp>
      <p:sp>
        <p:nvSpPr>
          <p:cNvPr id="20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7B4D932C-D6A1-40D2-8BAE-7646EF0A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10700"/>
            <a:ext cx="1661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05F"/>
                </a:solidFill>
              </a:defRPr>
            </a:pPr>
            <a:r>
              <a:rPr sz="1200">
                <a:solidFill>
                  <a:srgbClr val="77705F"/>
                </a:solidFill>
              </a:rPr>
              <a:t>使用示例依据 local-knowledge-bridge/README.zh-CN.md。</a:t>
            </a:r>
          </a:p>
        </p:txBody>
      </p:sp>
    </p:spTree>
    <p:extLst>
      <p:ext uri="{BB962C8B-B14F-4D97-AF65-F5344CB8AC3E}">
        <p14:creationId xmlns:p14="http://schemas.microsoft.com/office/powerpoint/2010/main" val="106316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2026-05-03T04:13:05.8060000Z</dcterms:created>
  <dcterms:modified xsi:type="dcterms:W3CDTF">2026-05-03T04:13:05.8060000Z</dcterms:modified>
</coreProperties>
</file>