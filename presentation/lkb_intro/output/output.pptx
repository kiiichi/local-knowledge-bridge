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3e4c0a711e49f4" /><Relationship Type="http://schemas.openxmlformats.org/officeDocument/2006/relationships/extended-properties" Target="/docProps/app.xml" Id="Reedbe654615c4263" /><Relationship Type="http://schemas.openxmlformats.org/officeDocument/2006/relationships/officeDocument" Target="/ppt/presentation.xml" Id="R0a5aa86b533f4e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36acb8af4a4462"/>
  </p:sldMasterIdLst>
  <p:notesMasterIdLst>
    <p:notesMasterId xmlns:r="http://schemas.openxmlformats.org/officeDocument/2006/relationships" r:id="R8e3f36cf630b407f"/>
  </p:notesMasterIdLst>
  <p:sldIdLst>
    <p:sldId xmlns:r="http://schemas.openxmlformats.org/officeDocument/2006/relationships" id="256" r:id="R975b91e8750f477b"/>
    <p:sldId xmlns:r="http://schemas.openxmlformats.org/officeDocument/2006/relationships" id="257" r:id="Raf2a30f8f059428c"/>
    <p:sldId xmlns:r="http://schemas.openxmlformats.org/officeDocument/2006/relationships" id="258" r:id="Re524c5ec896747b4"/>
    <p:sldId xmlns:r="http://schemas.openxmlformats.org/officeDocument/2006/relationships" id="259" r:id="Rf495de83a881456c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36acb8af4a4462" /><Relationship Type="http://schemas.openxmlformats.org/officeDocument/2006/relationships/theme" Target="/ppt/theme/theme1.xml" Id="R9832e75e45fd4058" /><Relationship Type="http://schemas.openxmlformats.org/officeDocument/2006/relationships/notesMaster" Target="/ppt/notesMasters/notesMaster1.xml" Id="R8e3f36cf630b407f" /><Relationship Type="http://schemas.openxmlformats.org/officeDocument/2006/relationships/presProps" Target="/ppt/presProps.xml" Id="Rcd2ba6f534714d7e" /><Relationship Type="http://schemas.openxmlformats.org/officeDocument/2006/relationships/viewProps" Target="/ppt/viewProps.xml" Id="R1f274c4e29b74013" /><Relationship Type="http://schemas.openxmlformats.org/officeDocument/2006/relationships/tableStyles" Target="/ppt/tableStyles.xml" Id="Rb79adb26fd3b4c74" /><Relationship Type="http://schemas.openxmlformats.org/officeDocument/2006/relationships/slide" Target="/ppt/slides/slide1.xml" Id="R975b91e8750f477b" /><Relationship Type="http://schemas.openxmlformats.org/officeDocument/2006/relationships/slide" Target="/ppt/slides/slide2.xml" Id="Raf2a30f8f059428c" /><Relationship Type="http://schemas.openxmlformats.org/officeDocument/2006/relationships/slide" Target="/ppt/slides/slide3.xml" Id="Re524c5ec896747b4" /><Relationship Type="http://schemas.openxmlformats.org/officeDocument/2006/relationships/slide" Target="/ppt/slides/slide4.xml" Id="Rf495de83a88145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5c15666521b45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9802f0050943bf" /><Relationship Type="http://schemas.openxmlformats.org/officeDocument/2006/relationships/notesMaster" Target="/ppt/notesMasters/notesMaster1.xml" Id="R5b835c889d214b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7231f18e2054495" /><Relationship Type="http://schemas.openxmlformats.org/officeDocument/2006/relationships/notesMaster" Target="/ppt/notesMasters/notesMaster1.xml" Id="R6100f884948541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757910ed5c4afb" /><Relationship Type="http://schemas.openxmlformats.org/officeDocument/2006/relationships/notesMaster" Target="/ppt/notesMasters/notesMaster1.xml" Id="Ra642fea38de448a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adbf85cc0fb4b3e" /><Relationship Type="http://schemas.openxmlformats.org/officeDocument/2006/relationships/notesMaster" Target="/ppt/notesMasters/notesMaster1.xml" Id="R02a35576ca2847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大家好，今天用两分钟介绍 Local Knowledge Bridge。它解决的问题很简单：AI 很聪明，但它不知道你电脑里那些 PDF、笔记、论文和项目文件在哪里。LKB 就像一座桥，把本地资料接到 Codex 前面，让 AI 先查你的本地数据库，再组织回答。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日常使用时，你不用记一堆命令。提出问题时写 lkb，或者显式调用 Local Knowledge Bridge，就能启用本地检索。如果想更明确，可以写 lkbsearch、lkbreport、lkbask 来选择输出形式，也可以写 fast、balanced 或 deep 来指定搜索深度。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底层逻辑也不神秘。LKB 会把可读文件解析、分块，并建立本地索引；轻量模式用 SQLite FTS5 和混合排序，deep 模式再加入本地 embedding 和 reranker。优点很实际：本地、只读、可引用来源，而且 fast 和 balanced 不会加载大模型。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部署也尽量简单。第一步，下载项目并解压；第二步，在 local-knowledge-bridge 目录运行 lkb_setup.cmd，然后按向导添加数据源。之后就像聊天一样提问：想罗列材料用 lkbsearch，想整理证据脉络用 lkbreport，想得到带引用的分析回答用 lkbask。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5ca27c1bae44b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9e03002032e44cd" /><Relationship Type="http://schemas.openxmlformats.org/officeDocument/2006/relationships/slideLayout" Target="/ppt/slideLayouts/slideLayout2.xml" Id="Rd499e7f4636842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99e7f4636842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f97e42fdf147dc" /><Relationship Type="http://schemas.openxmlformats.org/officeDocument/2006/relationships/notesSlide" Target="/ppt/notesSlides/notesSlide1.xml" Id="R0307b4f0d98849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061c59bcff4200" /><Relationship Type="http://schemas.openxmlformats.org/officeDocument/2006/relationships/notesSlide" Target="/ppt/notesSlides/notesSlide2.xml" Id="R0c4fe67f281b490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bdc0bd37134eef" /><Relationship Type="http://schemas.openxmlformats.org/officeDocument/2006/relationships/notesSlide" Target="/ppt/notesSlides/notesSlide3.xml" Id="Rd79a7ae3673e41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492e313fa440a1" /><Relationship Type="http://schemas.openxmlformats.org/officeDocument/2006/relationships/notesSlide" Target="/ppt/notesSlides/notesSlide4.xml" Id="R8e641cb35417401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bg">
            <a:extLst xmlns:a="http://schemas.openxmlformats.org/drawingml/2006/main">
              <a:ext uri="{FF2B5EF4-FFF2-40B4-BE49-F238E27FC236}">
                <a16:creationId xmlns:a16="http://schemas.microsoft.com/office/drawing/2014/main" id="{25AE7F5D-BA5D-47F9-BD1D-2F07A0F2D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</p:spPr>
      </p:sp>
      <p:sp>
        <p:nvSpPr>
          <p:cNvPr id="2" name="cover-brand">
            <a:extLst xmlns:a="http://schemas.openxmlformats.org/drawingml/2006/main">
              <a:ext uri="{FF2B5EF4-FFF2-40B4-BE49-F238E27FC236}">
                <a16:creationId xmlns:a16="http://schemas.microsoft.com/office/drawing/2014/main" id="{603D2157-9D0B-4B2E-9698-87D4D1B4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29908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8EA"/>
                </a:solidFill>
              </a:defRPr>
            </a:pPr>
            <a:r>
              <a:rPr sz="2400" b="1">
                <a:solidFill>
                  <a:srgbClr val="FFF8EA"/>
                </a:solidFill>
              </a:rPr>
              <a:t>Local Knowledge Bridge</a:t>
            </a:r>
          </a:p>
        </p:txBody>
      </p:sp>
      <p:sp>
        <p:nvSpPr>
          <p:cNvPr id="3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FF2CDDF8-0B3B-4FD5-9977-DF0B245C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6650" y="914400"/>
            <a:ext cx="2266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C8D2D8"/>
                </a:solidFill>
              </a:defRPr>
            </a:pPr>
            <a:r>
              <a:rPr sz="1800">
                <a:solidFill>
                  <a:srgbClr val="C8D2D8"/>
                </a:solidFill>
              </a:rPr>
              <a:t>让 Codex 先查本地资料</a:t>
            </a:r>
          </a:p>
        </p:txBody>
      </p:sp>
      <p:sp>
        <p:nvSpPr>
          <p:cNvPr id="4" name="cover-phrase">
            <a:extLst xmlns:a="http://schemas.openxmlformats.org/drawingml/2006/main">
              <a:ext uri="{FF2B5EF4-FFF2-40B4-BE49-F238E27FC236}">
                <a16:creationId xmlns:a16="http://schemas.microsoft.com/office/drawing/2014/main" id="{5FBFC162-F2EF-4664-A25C-68595235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7162800" cy="27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850" b="1">
                <a:solidFill>
                  <a:srgbClr val="FFF8EA"/>
                </a:solidFill>
              </a:defRPr>
            </a:pPr>
            <a:r>
              <a:rPr sz="8850" b="1">
                <a:solidFill>
                  <a:srgbClr val="FFF8EA"/>
                </a:solidFill>
              </a:rPr>
              <a:t>AI+本地数据库</a:t>
            </a:r>
          </a:p>
        </p:txBody>
      </p:sp>
      <p:sp>
        <p:nvSpPr>
          <p:cNvPr id="5" name="cover-rule">
            <a:extLst xmlns:a="http://schemas.openxmlformats.org/drawingml/2006/main">
              <a:ext uri="{FF2B5EF4-FFF2-40B4-BE49-F238E27FC236}">
                <a16:creationId xmlns:a16="http://schemas.microsoft.com/office/drawing/2014/main" id="{755C29C8-272E-4296-AF5D-0CB8510B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102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B7A"/>
          </a:solidFill>
          <a:ln xmlns:a="http://schemas.openxmlformats.org/drawingml/2006/main" w="0">
            <a:solidFill>
              <a:srgbClr val="008B7A"/>
            </a:solidFill>
            <a:prstDash val="solid"/>
          </a:ln>
        </p:spPr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9CC4E6D-10FA-4165-9FF7-7C9279F78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72200"/>
            <a:ext cx="67246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DCE5E7"/>
                </a:solidFill>
              </a:defRPr>
            </a:pPr>
            <a:r>
              <a:rPr sz="2400">
                <a:solidFill>
                  <a:srgbClr val="DCE5E7"/>
                </a:solidFill>
              </a:rPr>
              <a:t>把散落在电脑里的笔记、论文和项目文件，变成 AI 能先检索、再引用的知识入口。</a:t>
            </a:r>
          </a:p>
        </p:txBody>
      </p:sp>
      <p:sp>
        <p:nvSpPr>
          <p:cNvPr id="7" name="file-icon-pdf">
            <a:extLst xmlns:a="http://schemas.openxmlformats.org/drawingml/2006/main">
              <a:ext uri="{FF2B5EF4-FFF2-40B4-BE49-F238E27FC236}">
                <a16:creationId xmlns:a16="http://schemas.microsoft.com/office/drawing/2014/main" id="{C1189E0F-EB7F-458B-BA2C-512FFBCE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8305800"/>
            <a:ext cx="1543050" cy="1295400"/>
          </a:xfrm>
          <a:prstGeom xmlns:a="http://schemas.openxmlformats.org/drawingml/2006/main" prst="roundRect">
            <a:avLst>
              <a:gd name="adj" fmla="val 13235"/>
            </a:avLst>
          </a:prstGeom>
          <a:solidFill xmlns:a="http://schemas.openxmlformats.org/drawingml/2006/main">
            <a:srgbClr val="FFF8EA"/>
          </a:solidFill>
        </p:spPr>
      </p:sp>
      <p:sp>
        <p:nvSpPr>
          <p:cNvPr id="8" name="file-icon-pdf-bar">
            <a:extLst xmlns:a="http://schemas.openxmlformats.org/drawingml/2006/main">
              <a:ext uri="{FF2B5EF4-FFF2-40B4-BE49-F238E27FC236}">
                <a16:creationId xmlns:a16="http://schemas.microsoft.com/office/drawing/2014/main" id="{0305EC5D-0F75-48B6-9D96-1661427C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85344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4343"/>
          </a:solidFill>
        </p:spPr>
      </p:sp>
      <p:sp>
        <p:nvSpPr>
          <p:cNvPr id="9" name="file-icon-pdf-ext">
            <a:extLst xmlns:a="http://schemas.openxmlformats.org/drawingml/2006/main">
              <a:ext uri="{FF2B5EF4-FFF2-40B4-BE49-F238E27FC236}">
                <a16:creationId xmlns:a16="http://schemas.microsoft.com/office/drawing/2014/main" id="{22E95515-792A-4A47-A47A-C7B6EE8A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8705850"/>
            <a:ext cx="12573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PDF</a:t>
            </a:r>
          </a:p>
        </p:txBody>
      </p:sp>
      <p:sp>
        <p:nvSpPr>
          <p:cNvPr id="10" name="file-icon-pdf-label">
            <a:extLst xmlns:a="http://schemas.openxmlformats.org/drawingml/2006/main">
              <a:ext uri="{FF2B5EF4-FFF2-40B4-BE49-F238E27FC236}">
                <a16:creationId xmlns:a16="http://schemas.microsoft.com/office/drawing/2014/main" id="{D2CEAF47-4171-4828-9C43-9EB5BD95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9182100"/>
            <a:ext cx="1257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论文 / 报告</a:t>
            </a:r>
          </a:p>
        </p:txBody>
      </p:sp>
      <p:sp>
        <p:nvSpPr>
          <p:cNvPr id="11" name="file-icon-md">
            <a:extLst xmlns:a="http://schemas.openxmlformats.org/drawingml/2006/main">
              <a:ext uri="{FF2B5EF4-FFF2-40B4-BE49-F238E27FC236}">
                <a16:creationId xmlns:a16="http://schemas.microsoft.com/office/drawing/2014/main" id="{83965D41-F15D-4EF4-933C-8BB3CFE4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8305800"/>
            <a:ext cx="1543050" cy="1295400"/>
          </a:xfrm>
          <a:prstGeom xmlns:a="http://schemas.openxmlformats.org/drawingml/2006/main" prst="roundRect">
            <a:avLst>
              <a:gd name="adj" fmla="val 13235"/>
            </a:avLst>
          </a:prstGeom>
          <a:solidFill xmlns:a="http://schemas.openxmlformats.org/drawingml/2006/main">
            <a:srgbClr val="FFF8EA"/>
          </a:solidFill>
        </p:spPr>
      </p:sp>
      <p:sp>
        <p:nvSpPr>
          <p:cNvPr id="12" name="file-icon-md-bar">
            <a:extLst xmlns:a="http://schemas.openxmlformats.org/drawingml/2006/main">
              <a:ext uri="{FF2B5EF4-FFF2-40B4-BE49-F238E27FC236}">
                <a16:creationId xmlns:a16="http://schemas.microsoft.com/office/drawing/2014/main" id="{CD0BB2E0-9F54-4119-8236-6BE94E2AE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85344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7A"/>
          </a:solidFill>
        </p:spPr>
      </p:sp>
      <p:sp>
        <p:nvSpPr>
          <p:cNvPr id="13" name="file-icon-md-ext">
            <a:extLst xmlns:a="http://schemas.openxmlformats.org/drawingml/2006/main">
              <a:ext uri="{FF2B5EF4-FFF2-40B4-BE49-F238E27FC236}">
                <a16:creationId xmlns:a16="http://schemas.microsoft.com/office/drawing/2014/main" id="{C5666CD7-5B89-42FB-9605-3715FFCD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8705850"/>
            <a:ext cx="12573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MD</a:t>
            </a:r>
          </a:p>
        </p:txBody>
      </p:sp>
      <p:sp>
        <p:nvSpPr>
          <p:cNvPr id="14" name="file-icon-md-label">
            <a:extLst xmlns:a="http://schemas.openxmlformats.org/drawingml/2006/main">
              <a:ext uri="{FF2B5EF4-FFF2-40B4-BE49-F238E27FC236}">
                <a16:creationId xmlns:a16="http://schemas.microsoft.com/office/drawing/2014/main" id="{EC49991F-A697-4936-AE39-BAC4828E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9182100"/>
            <a:ext cx="1257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Obsidian</a:t>
            </a:r>
          </a:p>
        </p:txBody>
      </p:sp>
      <p:sp>
        <p:nvSpPr>
          <p:cNvPr id="15" name="file-icon-txt">
            <a:extLst xmlns:a="http://schemas.openxmlformats.org/drawingml/2006/main">
              <a:ext uri="{FF2B5EF4-FFF2-40B4-BE49-F238E27FC236}">
                <a16:creationId xmlns:a16="http://schemas.microsoft.com/office/drawing/2014/main" id="{9472E8A9-CEE4-4158-B998-EB2F1169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8305800"/>
            <a:ext cx="1543050" cy="1295400"/>
          </a:xfrm>
          <a:prstGeom xmlns:a="http://schemas.openxmlformats.org/drawingml/2006/main" prst="roundRect">
            <a:avLst>
              <a:gd name="adj" fmla="val 13235"/>
            </a:avLst>
          </a:prstGeom>
          <a:solidFill xmlns:a="http://schemas.openxmlformats.org/drawingml/2006/main">
            <a:srgbClr val="FFF8EA"/>
          </a:solidFill>
        </p:spPr>
      </p:sp>
      <p:sp>
        <p:nvSpPr>
          <p:cNvPr id="16" name="file-icon-txt-bar">
            <a:extLst xmlns:a="http://schemas.openxmlformats.org/drawingml/2006/main">
              <a:ext uri="{FF2B5EF4-FFF2-40B4-BE49-F238E27FC236}">
                <a16:creationId xmlns:a16="http://schemas.microsoft.com/office/drawing/2014/main" id="{ABA2777B-4B77-429F-9CDC-BDB0C0D61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85344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9B16"/>
          </a:solidFill>
        </p:spPr>
      </p:sp>
      <p:sp>
        <p:nvSpPr>
          <p:cNvPr id="17" name="file-icon-txt-ext">
            <a:extLst xmlns:a="http://schemas.openxmlformats.org/drawingml/2006/main">
              <a:ext uri="{FF2B5EF4-FFF2-40B4-BE49-F238E27FC236}">
                <a16:creationId xmlns:a16="http://schemas.microsoft.com/office/drawing/2014/main" id="{A5BB1233-C66B-41F1-8B67-40AE823B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8705850"/>
            <a:ext cx="12573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TXT</a:t>
            </a:r>
          </a:p>
        </p:txBody>
      </p:sp>
      <p:sp>
        <p:nvSpPr>
          <p:cNvPr id="18" name="file-icon-txt-label">
            <a:extLst xmlns:a="http://schemas.openxmlformats.org/drawingml/2006/main">
              <a:ext uri="{FF2B5EF4-FFF2-40B4-BE49-F238E27FC236}">
                <a16:creationId xmlns:a16="http://schemas.microsoft.com/office/drawing/2014/main" id="{0ACCF646-C20A-4BF8-950C-BE0547EF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9182100"/>
            <a:ext cx="1257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文本资料</a:t>
            </a:r>
          </a:p>
        </p:txBody>
      </p:sp>
      <p:sp>
        <p:nvSpPr>
          <p:cNvPr id="19" name="file-icon-pptx">
            <a:extLst xmlns:a="http://schemas.openxmlformats.org/drawingml/2006/main">
              <a:ext uri="{FF2B5EF4-FFF2-40B4-BE49-F238E27FC236}">
                <a16:creationId xmlns:a16="http://schemas.microsoft.com/office/drawing/2014/main" id="{9E1AFFC9-3AC7-4FD2-BCDF-C8F26EC5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8305800"/>
            <a:ext cx="1543050" cy="1295400"/>
          </a:xfrm>
          <a:prstGeom xmlns:a="http://schemas.openxmlformats.org/drawingml/2006/main" prst="roundRect">
            <a:avLst>
              <a:gd name="adj" fmla="val 13235"/>
            </a:avLst>
          </a:prstGeom>
          <a:solidFill xmlns:a="http://schemas.openxmlformats.org/drawingml/2006/main">
            <a:srgbClr val="FFF8EA"/>
          </a:solidFill>
        </p:spPr>
      </p:sp>
      <p:sp>
        <p:nvSpPr>
          <p:cNvPr id="20" name="file-icon-pptx-bar">
            <a:extLst xmlns:a="http://schemas.openxmlformats.org/drawingml/2006/main">
              <a:ext uri="{FF2B5EF4-FFF2-40B4-BE49-F238E27FC236}">
                <a16:creationId xmlns:a16="http://schemas.microsoft.com/office/drawing/2014/main" id="{B6FE7D24-1A8B-4C57-92C6-2D00D419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85344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5D2F"/>
          </a:solidFill>
        </p:spPr>
      </p:sp>
      <p:sp>
        <p:nvSpPr>
          <p:cNvPr id="21" name="file-icon-pptx-ext">
            <a:extLst xmlns:a="http://schemas.openxmlformats.org/drawingml/2006/main">
              <a:ext uri="{FF2B5EF4-FFF2-40B4-BE49-F238E27FC236}">
                <a16:creationId xmlns:a16="http://schemas.microsoft.com/office/drawing/2014/main" id="{1A138C71-15C0-4569-A7D3-1DFDA141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8705850"/>
            <a:ext cx="12573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PPTX</a:t>
            </a:r>
          </a:p>
        </p:txBody>
      </p:sp>
      <p:sp>
        <p:nvSpPr>
          <p:cNvPr id="22" name="file-icon-pptx-label">
            <a:extLst xmlns:a="http://schemas.openxmlformats.org/drawingml/2006/main">
              <a:ext uri="{FF2B5EF4-FFF2-40B4-BE49-F238E27FC236}">
                <a16:creationId xmlns:a16="http://schemas.microsoft.com/office/drawing/2014/main" id="{D245A3A7-7E88-4329-BCA5-C913C19B0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9182100"/>
            <a:ext cx="1257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演示文稿</a:t>
            </a:r>
          </a:p>
        </p:txBody>
      </p:sp>
      <p:sp>
        <p:nvSpPr>
          <p:cNvPr id="23" name="file-icon-docx">
            <a:extLst xmlns:a="http://schemas.openxmlformats.org/drawingml/2006/main">
              <a:ext uri="{FF2B5EF4-FFF2-40B4-BE49-F238E27FC236}">
                <a16:creationId xmlns:a16="http://schemas.microsoft.com/office/drawing/2014/main" id="{736FF523-E278-4984-A153-2583A866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8525" y="8305800"/>
            <a:ext cx="1543050" cy="1295400"/>
          </a:xfrm>
          <a:prstGeom xmlns:a="http://schemas.openxmlformats.org/drawingml/2006/main" prst="roundRect">
            <a:avLst>
              <a:gd name="adj" fmla="val 13235"/>
            </a:avLst>
          </a:prstGeom>
          <a:solidFill xmlns:a="http://schemas.openxmlformats.org/drawingml/2006/main">
            <a:srgbClr val="FFF8EA"/>
          </a:solidFill>
        </p:spPr>
      </p:sp>
      <p:sp>
        <p:nvSpPr>
          <p:cNvPr id="24" name="file-icon-docx-bar">
            <a:extLst xmlns:a="http://schemas.openxmlformats.org/drawingml/2006/main">
              <a:ext uri="{FF2B5EF4-FFF2-40B4-BE49-F238E27FC236}">
                <a16:creationId xmlns:a16="http://schemas.microsoft.com/office/drawing/2014/main" id="{A344D1A4-F9DC-41FD-B00D-942AD98D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85344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64D8"/>
          </a:solidFill>
        </p:spPr>
      </p:sp>
      <p:sp>
        <p:nvSpPr>
          <p:cNvPr id="25" name="file-icon-docx-ext">
            <a:extLst xmlns:a="http://schemas.openxmlformats.org/drawingml/2006/main">
              <a:ext uri="{FF2B5EF4-FFF2-40B4-BE49-F238E27FC236}">
                <a16:creationId xmlns:a16="http://schemas.microsoft.com/office/drawing/2014/main" id="{51CA9D28-B545-48AE-B238-166920F1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8705850"/>
            <a:ext cx="12573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DOCX</a:t>
            </a:r>
          </a:p>
        </p:txBody>
      </p:sp>
      <p:sp>
        <p:nvSpPr>
          <p:cNvPr id="26" name="file-icon-docx-label">
            <a:extLst xmlns:a="http://schemas.openxmlformats.org/drawingml/2006/main">
              <a:ext uri="{FF2B5EF4-FFF2-40B4-BE49-F238E27FC236}">
                <a16:creationId xmlns:a16="http://schemas.microsoft.com/office/drawing/2014/main" id="{C0873540-30BF-43CC-B775-065EC35D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9182100"/>
            <a:ext cx="1257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文档</a:t>
            </a:r>
          </a:p>
        </p:txBody>
      </p:sp>
      <p:sp>
        <p:nvSpPr>
          <p:cNvPr id="27" name="file-icon-xlsx">
            <a:extLst xmlns:a="http://schemas.openxmlformats.org/drawingml/2006/main">
              <a:ext uri="{FF2B5EF4-FFF2-40B4-BE49-F238E27FC236}">
                <a16:creationId xmlns:a16="http://schemas.microsoft.com/office/drawing/2014/main" id="{089AECF8-4DF1-4956-8ADC-F8220006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8305800"/>
            <a:ext cx="1543050" cy="1295400"/>
          </a:xfrm>
          <a:prstGeom xmlns:a="http://schemas.openxmlformats.org/drawingml/2006/main" prst="roundRect">
            <a:avLst>
              <a:gd name="adj" fmla="val 13235"/>
            </a:avLst>
          </a:prstGeom>
          <a:solidFill xmlns:a="http://schemas.openxmlformats.org/drawingml/2006/main">
            <a:srgbClr val="FFF8EA"/>
          </a:solidFill>
        </p:spPr>
      </p:sp>
      <p:sp>
        <p:nvSpPr>
          <p:cNvPr id="28" name="file-icon-xlsx-bar">
            <a:extLst xmlns:a="http://schemas.openxmlformats.org/drawingml/2006/main">
              <a:ext uri="{FF2B5EF4-FFF2-40B4-BE49-F238E27FC236}">
                <a16:creationId xmlns:a16="http://schemas.microsoft.com/office/drawing/2014/main" id="{F98E5CED-E83C-493F-8E0E-4572AF38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2600" y="85344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9B59"/>
          </a:solidFill>
        </p:spPr>
      </p:sp>
      <p:sp>
        <p:nvSpPr>
          <p:cNvPr id="29" name="file-icon-xlsx-ext">
            <a:extLst xmlns:a="http://schemas.openxmlformats.org/drawingml/2006/main">
              <a:ext uri="{FF2B5EF4-FFF2-40B4-BE49-F238E27FC236}">
                <a16:creationId xmlns:a16="http://schemas.microsoft.com/office/drawing/2014/main" id="{0E89EA24-7E7B-4A7C-BB8C-60447C0F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8705850"/>
            <a:ext cx="12573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XLSX</a:t>
            </a:r>
          </a:p>
        </p:txBody>
      </p:sp>
      <p:sp>
        <p:nvSpPr>
          <p:cNvPr id="30" name="file-icon-xlsx-label">
            <a:extLst xmlns:a="http://schemas.openxmlformats.org/drawingml/2006/main">
              <a:ext uri="{FF2B5EF4-FFF2-40B4-BE49-F238E27FC236}">
                <a16:creationId xmlns:a16="http://schemas.microsoft.com/office/drawing/2014/main" id="{29FD824D-99DC-4BDE-B6D4-ABB9AC33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9182100"/>
            <a:ext cx="1257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表格</a:t>
            </a:r>
          </a:p>
        </p:txBody>
      </p:sp>
    </p:spTree>
    <p:extLst>
      <p:ext uri="{BB962C8B-B14F-4D97-AF65-F5344CB8AC3E}">
        <p14:creationId xmlns:p14="http://schemas.microsoft.com/office/powerpoint/2010/main" val="197357117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2-bg">
            <a:extLst xmlns:a="http://schemas.openxmlformats.org/drawingml/2006/main">
              <a:ext uri="{FF2B5EF4-FFF2-40B4-BE49-F238E27FC236}">
                <a16:creationId xmlns:a16="http://schemas.microsoft.com/office/drawing/2014/main" id="{63D84D1F-B715-4442-AE23-E38E5B7AC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4"/>
          </a:solidFill>
        </p:spPr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60F4C738-315B-4BED-86B5-F9F18EC82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66116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111827"/>
                </a:solidFill>
              </a:defRPr>
            </a:pPr>
            <a:r>
              <a:rPr sz="4650" b="1">
                <a:solidFill>
                  <a:srgbClr val="111827"/>
                </a:solidFill>
              </a:rPr>
              <a:t>使用方式：先选输出，再选深度</a:t>
            </a:r>
          </a:p>
        </p:txBody>
      </p:sp>
      <p:sp>
        <p:nvSpPr>
          <p:cNvPr id="3" name="slide-2-subtitle">
            <a:extLst xmlns:a="http://schemas.openxmlformats.org/drawingml/2006/main">
              <a:ext uri="{FF2B5EF4-FFF2-40B4-BE49-F238E27FC236}">
                <a16:creationId xmlns:a16="http://schemas.microsoft.com/office/drawing/2014/main" id="{A94C8B05-F7D7-4EFE-8A83-C2BF6046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24000"/>
            <a:ext cx="117919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9606C"/>
                </a:solidFill>
              </a:defRPr>
            </a:pPr>
            <a:r>
              <a:rPr sz="2100">
                <a:solidFill>
                  <a:srgbClr val="59606C"/>
                </a:solidFill>
              </a:rPr>
              <a:t>最简单：直接写 lkb 让 Codex 自动判断。想更明确：用 lkbsearch / lkbreport / lkbask 指定输出，用 fast / balanced / deep 指定搜索深度。</a:t>
            </a:r>
          </a:p>
        </p:txBody>
      </p:sp>
      <p:sp>
        <p:nvSpPr>
          <p:cNvPr id="4" name="feature-step-1-number">
            <a:extLst xmlns:a="http://schemas.openxmlformats.org/drawingml/2006/main">
              <a:ext uri="{FF2B5EF4-FFF2-40B4-BE49-F238E27FC236}">
                <a16:creationId xmlns:a16="http://schemas.microsoft.com/office/drawing/2014/main" id="{8E72FD25-C0ED-4DCA-999C-A33BCBFC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686050"/>
            <a:ext cx="36195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08B7A"/>
                </a:solidFill>
              </a:defRPr>
            </a:pPr>
            <a:r>
              <a:rPr sz="3900" b="1">
                <a:solidFill>
                  <a:srgbClr val="008B7A"/>
                </a:solidFill>
              </a:rPr>
              <a:t>01</a:t>
            </a:r>
          </a:p>
        </p:txBody>
      </p:sp>
      <p:sp>
        <p:nvSpPr>
          <p:cNvPr id="5" name="feature-step-1-title">
            <a:extLst xmlns:a="http://schemas.openxmlformats.org/drawingml/2006/main">
              <a:ext uri="{FF2B5EF4-FFF2-40B4-BE49-F238E27FC236}">
                <a16:creationId xmlns:a16="http://schemas.microsoft.com/office/drawing/2014/main" id="{BDB93058-2915-417B-8460-371EB944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29000"/>
            <a:ext cx="3619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自动模式</a:t>
            </a:r>
          </a:p>
        </p:txBody>
      </p:sp>
      <p:sp>
        <p:nvSpPr>
          <p:cNvPr id="6" name="feature-step-1-detail">
            <a:extLst xmlns:a="http://schemas.openxmlformats.org/drawingml/2006/main">
              <a:ext uri="{FF2B5EF4-FFF2-40B4-BE49-F238E27FC236}">
                <a16:creationId xmlns:a16="http://schemas.microsoft.com/office/drawing/2014/main" id="{8D842A18-E409-40B7-9BD5-9B2468BB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962400"/>
            <a:ext cx="3619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9606C"/>
                </a:solidFill>
              </a:defRPr>
            </a:pPr>
            <a:r>
              <a:rPr sz="1725">
                <a:solidFill>
                  <a:srgbClr val="59606C"/>
                </a:solidFill>
              </a:rPr>
              <a:t>不确定怎么选时，写 lkb 加问题，让 Codex 自动选择输出和深度。</a:t>
            </a:r>
          </a:p>
        </p:txBody>
      </p:sp>
      <p:sp>
        <p:nvSpPr>
          <p:cNvPr id="7" name="feature-step-2-number">
            <a:extLst xmlns:a="http://schemas.openxmlformats.org/drawingml/2006/main">
              <a:ext uri="{FF2B5EF4-FFF2-40B4-BE49-F238E27FC236}">
                <a16:creationId xmlns:a16="http://schemas.microsoft.com/office/drawing/2014/main" id="{D92D304E-C557-45F1-B3E2-819F16FC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686050"/>
            <a:ext cx="36195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E65D2F"/>
                </a:solidFill>
              </a:defRPr>
            </a:pPr>
            <a:r>
              <a:rPr sz="3900" b="1">
                <a:solidFill>
                  <a:srgbClr val="E65D2F"/>
                </a:solidFill>
              </a:rPr>
              <a:t>02</a:t>
            </a:r>
          </a:p>
        </p:txBody>
      </p:sp>
      <p:sp>
        <p:nvSpPr>
          <p:cNvPr id="8" name="feature-step-2-title">
            <a:extLst xmlns:a="http://schemas.openxmlformats.org/drawingml/2006/main">
              <a:ext uri="{FF2B5EF4-FFF2-40B4-BE49-F238E27FC236}">
                <a16:creationId xmlns:a16="http://schemas.microsoft.com/office/drawing/2014/main" id="{2F8F66F5-029D-4AA7-B8A3-2CFA0F9F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429000"/>
            <a:ext cx="3619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lkbsearch</a:t>
            </a:r>
          </a:p>
        </p:txBody>
      </p:sp>
      <p:sp>
        <p:nvSpPr>
          <p:cNvPr id="9" name="feature-step-2-detail">
            <a:extLst xmlns:a="http://schemas.openxmlformats.org/drawingml/2006/main">
              <a:ext uri="{FF2B5EF4-FFF2-40B4-BE49-F238E27FC236}">
                <a16:creationId xmlns:a16="http://schemas.microsoft.com/office/drawing/2014/main" id="{9E52EC32-110F-4607-9B9C-819717FA6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962400"/>
            <a:ext cx="3619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9606C"/>
                </a:solidFill>
              </a:defRPr>
            </a:pPr>
            <a:r>
              <a:rPr sz="1725">
                <a:solidFill>
                  <a:srgbClr val="59606C"/>
                </a:solidFill>
              </a:rPr>
              <a:t>想罗列候选材料，例如“二战期间有哪些主流思潮”。</a:t>
            </a:r>
          </a:p>
        </p:txBody>
      </p:sp>
      <p:sp>
        <p:nvSpPr>
          <p:cNvPr id="10" name="feature-step-3-number">
            <a:extLst xmlns:a="http://schemas.openxmlformats.org/drawingml/2006/main">
              <a:ext uri="{FF2B5EF4-FFF2-40B4-BE49-F238E27FC236}">
                <a16:creationId xmlns:a16="http://schemas.microsoft.com/office/drawing/2014/main" id="{3095E538-C0AB-498C-8392-66D2494E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686050"/>
            <a:ext cx="36195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4B64D8"/>
                </a:solidFill>
              </a:defRPr>
            </a:pPr>
            <a:r>
              <a:rPr sz="3900" b="1">
                <a:solidFill>
                  <a:srgbClr val="4B64D8"/>
                </a:solidFill>
              </a:rPr>
              <a:t>03</a:t>
            </a:r>
          </a:p>
        </p:txBody>
      </p:sp>
      <p:sp>
        <p:nvSpPr>
          <p:cNvPr id="11" name="feature-step-3-title">
            <a:extLst xmlns:a="http://schemas.openxmlformats.org/drawingml/2006/main">
              <a:ext uri="{FF2B5EF4-FFF2-40B4-BE49-F238E27FC236}">
                <a16:creationId xmlns:a16="http://schemas.microsoft.com/office/drawing/2014/main" id="{58126A4F-3C2E-4C1C-B89F-EF568A70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429000"/>
            <a:ext cx="3619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lkbreport</a:t>
            </a:r>
          </a:p>
        </p:txBody>
      </p:sp>
      <p:sp>
        <p:nvSpPr>
          <p:cNvPr id="12" name="feature-step-3-detail">
            <a:extLst xmlns:a="http://schemas.openxmlformats.org/drawingml/2006/main">
              <a:ext uri="{FF2B5EF4-FFF2-40B4-BE49-F238E27FC236}">
                <a16:creationId xmlns:a16="http://schemas.microsoft.com/office/drawing/2014/main" id="{FD43AB32-4E67-47E1-B24B-C9058AC8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962400"/>
            <a:ext cx="3619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9606C"/>
                </a:solidFill>
              </a:defRPr>
            </a:pPr>
            <a:r>
              <a:rPr sz="1725">
                <a:solidFill>
                  <a:srgbClr val="59606C"/>
                </a:solidFill>
              </a:rPr>
              <a:t>想整理证据脉络，例如“按热烈讨论的时间排先后”。</a:t>
            </a:r>
          </a:p>
        </p:txBody>
      </p:sp>
      <p:sp>
        <p:nvSpPr>
          <p:cNvPr id="13" name="feature-step-4-number">
            <a:extLst xmlns:a="http://schemas.openxmlformats.org/drawingml/2006/main">
              <a:ext uri="{FF2B5EF4-FFF2-40B4-BE49-F238E27FC236}">
                <a16:creationId xmlns:a16="http://schemas.microsoft.com/office/drawing/2014/main" id="{A0FC61CB-5BD6-4502-8DCE-DD4F5FFA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15950" y="2686050"/>
            <a:ext cx="36195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2D9B59"/>
                </a:solidFill>
              </a:defRPr>
            </a:pPr>
            <a:r>
              <a:rPr sz="3900" b="1">
                <a:solidFill>
                  <a:srgbClr val="2D9B59"/>
                </a:solidFill>
              </a:rPr>
              <a:t>04</a:t>
            </a:r>
          </a:p>
        </p:txBody>
      </p:sp>
      <p:sp>
        <p:nvSpPr>
          <p:cNvPr id="14" name="feature-step-4-title">
            <a:extLst xmlns:a="http://schemas.openxmlformats.org/drawingml/2006/main">
              <a:ext uri="{FF2B5EF4-FFF2-40B4-BE49-F238E27FC236}">
                <a16:creationId xmlns:a16="http://schemas.microsoft.com/office/drawing/2014/main" id="{51C627F6-CA95-4E06-B159-90E568E4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15950" y="3429000"/>
            <a:ext cx="3619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lkbask</a:t>
            </a:r>
          </a:p>
        </p:txBody>
      </p:sp>
      <p:sp>
        <p:nvSpPr>
          <p:cNvPr id="15" name="feature-step-4-detail">
            <a:extLst xmlns:a="http://schemas.openxmlformats.org/drawingml/2006/main">
              <a:ext uri="{FF2B5EF4-FFF2-40B4-BE49-F238E27FC236}">
                <a16:creationId xmlns:a16="http://schemas.microsoft.com/office/drawing/2014/main" id="{92190234-8F23-4199-B20E-F70C7B70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15950" y="3962400"/>
            <a:ext cx="3619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9606C"/>
                </a:solidFill>
              </a:defRPr>
            </a:pPr>
            <a:r>
              <a:rPr sz="1725">
                <a:solidFill>
                  <a:srgbClr val="59606C"/>
                </a:solidFill>
              </a:rPr>
              <a:t>想得到分析结论，例如“这些思潮有什么共性”。</a:t>
            </a:r>
          </a:p>
        </p:txBody>
      </p:sp>
      <p:sp>
        <p:nvSpPr>
          <p:cNvPr id="16" name="feature-bottom-mark">
            <a:extLst xmlns:a="http://schemas.openxmlformats.org/drawingml/2006/main">
              <a:ext uri="{FF2B5EF4-FFF2-40B4-BE49-F238E27FC236}">
                <a16:creationId xmlns:a16="http://schemas.microsoft.com/office/drawing/2014/main" id="{2A8CBB76-27E9-481C-B633-8E50FF12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067800"/>
            <a:ext cx="1333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7A"/>
          </a:solidFill>
        </p:spPr>
      </p:sp>
      <p:sp>
        <p:nvSpPr>
          <p:cNvPr id="17" name="feature-bottom-copy">
            <a:extLst xmlns:a="http://schemas.openxmlformats.org/drawingml/2006/main">
              <a:ext uri="{FF2B5EF4-FFF2-40B4-BE49-F238E27FC236}">
                <a16:creationId xmlns:a16="http://schemas.microsoft.com/office/drawing/2014/main" id="{64C6E78A-746B-426C-869A-87FA7BEBB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144000"/>
            <a:ext cx="162306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搜索深度也能自动；需要时再显式写 fast、balanced / balance 或 deep。</a:t>
            </a:r>
          </a:p>
        </p:txBody>
      </p:sp>
    </p:spTree>
    <p:extLst>
      <p:ext uri="{BB962C8B-B14F-4D97-AF65-F5344CB8AC3E}">
        <p14:creationId xmlns:p14="http://schemas.microsoft.com/office/powerpoint/2010/main" val="100174346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3-bg">
            <a:extLst xmlns:a="http://schemas.openxmlformats.org/drawingml/2006/main">
              <a:ext uri="{FF2B5EF4-FFF2-40B4-BE49-F238E27FC236}">
                <a16:creationId xmlns:a16="http://schemas.microsoft.com/office/drawing/2014/main" id="{621B892E-BAD0-4BF9-9AE7-37EFCC2A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</p:spPr>
      </p:sp>
      <p:sp>
        <p:nvSpPr>
          <p:cNvPr id="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71153FF8-FB00-47D3-83A4-A8072C75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66116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8EA"/>
                </a:solidFill>
              </a:defRPr>
            </a:pPr>
            <a:r>
              <a:rPr sz="4350" b="1">
                <a:solidFill>
                  <a:srgbClr val="FFF8EA"/>
                </a:solidFill>
              </a:rPr>
              <a:t>底层原理：先建本地索引，再把证据交给 AI</a:t>
            </a:r>
          </a:p>
        </p:txBody>
      </p:sp>
      <p:sp>
        <p:nvSpPr>
          <p:cNvPr id="3" name="slide-3-subtitle">
            <a:extLst xmlns:a="http://schemas.openxmlformats.org/drawingml/2006/main">
              <a:ext uri="{FF2B5EF4-FFF2-40B4-BE49-F238E27FC236}">
                <a16:creationId xmlns:a16="http://schemas.microsoft.com/office/drawing/2014/main" id="{74F467D0-D112-4A51-919F-52E82A7D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85900"/>
            <a:ext cx="81343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CBD5DB"/>
                </a:solidFill>
              </a:defRPr>
            </a:pPr>
            <a:r>
              <a:rPr sz="2100">
                <a:solidFill>
                  <a:srgbClr val="CBD5DB"/>
                </a:solidFill>
              </a:rPr>
              <a:t>轻量检索和 deep 检索分开运行，速度、成本和效果可以按场景选择。</a:t>
            </a:r>
          </a:p>
        </p:txBody>
      </p:sp>
      <p:sp>
        <p:nvSpPr>
          <p:cNvPr id="4" name="principle-main-claim">
            <a:extLst xmlns:a="http://schemas.openxmlformats.org/drawingml/2006/main">
              <a:ext uri="{FF2B5EF4-FFF2-40B4-BE49-F238E27FC236}">
                <a16:creationId xmlns:a16="http://schemas.microsoft.com/office/drawing/2014/main" id="{6FC4659A-1657-4D05-AD1E-542991F9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81500"/>
            <a:ext cx="6572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8EA"/>
                </a:solidFill>
              </a:defRPr>
            </a:pPr>
            <a:r>
              <a:rPr sz="3450" b="1">
                <a:solidFill>
                  <a:srgbClr val="FFF8EA"/>
                </a:solidFill>
              </a:rPr>
              <a:t>它不是把资料上传到远端，而是在本机建立一条可检索通道。</a:t>
            </a:r>
          </a:p>
        </p:txBody>
      </p:sp>
      <p:sp>
        <p:nvSpPr>
          <p:cNvPr id="5" name="principle-rule">
            <a:extLst xmlns:a="http://schemas.openxmlformats.org/drawingml/2006/main">
              <a:ext uri="{FF2B5EF4-FFF2-40B4-BE49-F238E27FC236}">
                <a16:creationId xmlns:a16="http://schemas.microsoft.com/office/drawing/2014/main" id="{B3EFD3C6-9100-45AA-BFC4-FB9F7D20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95950"/>
            <a:ext cx="2476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5D2F"/>
          </a:solidFill>
          <a:ln xmlns:a="http://schemas.openxmlformats.org/drawingml/2006/main" w="0">
            <a:solidFill>
              <a:srgbClr val="E65D2F"/>
            </a:solidFill>
            <a:prstDash val="solid"/>
          </a:ln>
        </p:spPr>
      </p:sp>
      <p:sp>
        <p:nvSpPr>
          <p:cNvPr id="6" name="principle-detail">
            <a:extLst xmlns:a="http://schemas.openxmlformats.org/drawingml/2006/main">
              <a:ext uri="{FF2B5EF4-FFF2-40B4-BE49-F238E27FC236}">
                <a16:creationId xmlns:a16="http://schemas.microsoft.com/office/drawing/2014/main" id="{D6206220-D9F8-4B85-8645-A71CCEB8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19800"/>
            <a:ext cx="6629400" cy="1009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D8E1E4"/>
                </a:solidFill>
              </a:defRPr>
            </a:pPr>
            <a:r>
              <a:rPr sz="2175">
                <a:solidFill>
                  <a:srgbClr val="D8E1E4"/>
                </a:solidFill>
              </a:rPr>
              <a:t>默认只读：索引、配置、日志、模型都留在本机。轻量模式不加载 deep 模型；需要更深语义检索时，再启用 deep。</a:t>
            </a:r>
          </a:p>
        </p:txBody>
      </p:sp>
      <p:sp>
        <p:nvSpPr>
          <p:cNvPr id="7" name="pipeline-解析与分块">
            <a:extLst xmlns:a="http://schemas.openxmlformats.org/drawingml/2006/main">
              <a:ext uri="{FF2B5EF4-FFF2-40B4-BE49-F238E27FC236}">
                <a16:creationId xmlns:a16="http://schemas.microsoft.com/office/drawing/2014/main" id="{BE8344C2-7AD7-4911-9F78-694A93DDF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720" y="3310890"/>
            <a:ext cx="864108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FFF8EA"/>
          </a:solidFill>
        </p:spPr>
      </p:sp>
      <p:sp>
        <p:nvSpPr>
          <p:cNvPr id="8" name="pipeline-dot-解析与分块">
            <a:extLst xmlns:a="http://schemas.openxmlformats.org/drawingml/2006/main">
              <a:ext uri="{FF2B5EF4-FFF2-40B4-BE49-F238E27FC236}">
                <a16:creationId xmlns:a16="http://schemas.microsoft.com/office/drawing/2014/main" id="{1455EBE6-8D75-48D5-9E80-3F675236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57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B7A"/>
          </a:solidFill>
        </p:spPr>
      </p:sp>
      <p:sp>
        <p:nvSpPr>
          <p:cNvPr id="9" name="pipeline-title-解析与分块">
            <a:extLst xmlns:a="http://schemas.openxmlformats.org/drawingml/2006/main">
              <a:ext uri="{FF2B5EF4-FFF2-40B4-BE49-F238E27FC236}">
                <a16:creationId xmlns:a16="http://schemas.microsoft.com/office/drawing/2014/main" id="{5BD9AF22-30B5-4F62-84DC-F8008E5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67100"/>
            <a:ext cx="7848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解析与分块</a:t>
            </a:r>
          </a:p>
        </p:txBody>
      </p:sp>
      <p:sp>
        <p:nvSpPr>
          <p:cNvPr id="10" name="pipeline-detail-解析与分块">
            <a:extLst xmlns:a="http://schemas.openxmlformats.org/drawingml/2006/main">
              <a:ext uri="{FF2B5EF4-FFF2-40B4-BE49-F238E27FC236}">
                <a16:creationId xmlns:a16="http://schemas.microsoft.com/office/drawing/2014/main" id="{F9581626-00E0-48BB-9C8C-8A5A93FB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752850"/>
            <a:ext cx="7848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把笔记、论文附件和 Office 文件整理成可索引文本</a:t>
            </a:r>
          </a:p>
        </p:txBody>
      </p:sp>
      <p:sp>
        <p:nvSpPr>
          <p:cNvPr id="11" name="pipeline-SQLite FTS5">
            <a:extLst xmlns:a="http://schemas.openxmlformats.org/drawingml/2006/main">
              <a:ext uri="{FF2B5EF4-FFF2-40B4-BE49-F238E27FC236}">
                <a16:creationId xmlns:a16="http://schemas.microsoft.com/office/drawing/2014/main" id="{5248BBBC-5C10-4AD9-B182-8F57401F2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720" y="4301490"/>
            <a:ext cx="864108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FFF8EA"/>
          </a:solidFill>
        </p:spPr>
      </p:sp>
      <p:sp>
        <p:nvSpPr>
          <p:cNvPr id="12" name="pipeline-dot-SQLite FTS5">
            <a:extLst xmlns:a="http://schemas.openxmlformats.org/drawingml/2006/main">
              <a:ext uri="{FF2B5EF4-FFF2-40B4-BE49-F238E27FC236}">
                <a16:creationId xmlns:a16="http://schemas.microsoft.com/office/drawing/2014/main" id="{D90A2D4F-B3F7-490B-8E8A-F57425B59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6482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9B16"/>
          </a:solidFill>
        </p:spPr>
      </p:sp>
      <p:sp>
        <p:nvSpPr>
          <p:cNvPr id="13" name="pipeline-title-SQLite FTS5">
            <a:extLst xmlns:a="http://schemas.openxmlformats.org/drawingml/2006/main">
              <a:ext uri="{FF2B5EF4-FFF2-40B4-BE49-F238E27FC236}">
                <a16:creationId xmlns:a16="http://schemas.microsoft.com/office/drawing/2014/main" id="{2326E604-91F4-4417-9F35-CD3C9B129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57700"/>
            <a:ext cx="7848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SQLite FTS5</a:t>
            </a:r>
          </a:p>
        </p:txBody>
      </p:sp>
      <p:sp>
        <p:nvSpPr>
          <p:cNvPr id="14" name="pipeline-detail-SQLite FTS5">
            <a:extLst xmlns:a="http://schemas.openxmlformats.org/drawingml/2006/main">
              <a:ext uri="{FF2B5EF4-FFF2-40B4-BE49-F238E27FC236}">
                <a16:creationId xmlns:a16="http://schemas.microsoft.com/office/drawing/2014/main" id="{837EC3EB-29D2-424C-8542-D9A6ADA5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743450"/>
            <a:ext cx="7848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fast / balanced 使用轻量本地词法检索</a:t>
            </a:r>
          </a:p>
        </p:txBody>
      </p:sp>
      <p:sp>
        <p:nvSpPr>
          <p:cNvPr id="15" name="pipeline-混合评分与 RRF">
            <a:extLst xmlns:a="http://schemas.openxmlformats.org/drawingml/2006/main">
              <a:ext uri="{FF2B5EF4-FFF2-40B4-BE49-F238E27FC236}">
                <a16:creationId xmlns:a16="http://schemas.microsoft.com/office/drawing/2014/main" id="{900CA209-3463-4AF0-940F-0E8BA347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720" y="5292090"/>
            <a:ext cx="864108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FFF8EA"/>
          </a:solidFill>
        </p:spPr>
      </p:sp>
      <p:sp>
        <p:nvSpPr>
          <p:cNvPr id="16" name="pipeline-dot-混合评分与 RRF">
            <a:extLst xmlns:a="http://schemas.openxmlformats.org/drawingml/2006/main">
              <a:ext uri="{FF2B5EF4-FFF2-40B4-BE49-F238E27FC236}">
                <a16:creationId xmlns:a16="http://schemas.microsoft.com/office/drawing/2014/main" id="{F8E917DB-A639-420D-8BCD-369C0DD2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638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5D2F"/>
          </a:solidFill>
        </p:spPr>
      </p:sp>
      <p:sp>
        <p:nvSpPr>
          <p:cNvPr id="17" name="pipeline-title-混合评分与 RRF">
            <a:extLst xmlns:a="http://schemas.openxmlformats.org/drawingml/2006/main">
              <a:ext uri="{FF2B5EF4-FFF2-40B4-BE49-F238E27FC236}">
                <a16:creationId xmlns:a16="http://schemas.microsoft.com/office/drawing/2014/main" id="{B0306B34-5FF3-446D-A7F0-30EE8B0C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448300"/>
            <a:ext cx="7848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混合评分与 RRF</a:t>
            </a:r>
          </a:p>
        </p:txBody>
      </p:sp>
      <p:sp>
        <p:nvSpPr>
          <p:cNvPr id="18" name="pipeline-detail-混合评分与 RRF">
            <a:extLst xmlns:a="http://schemas.openxmlformats.org/drawingml/2006/main">
              <a:ext uri="{FF2B5EF4-FFF2-40B4-BE49-F238E27FC236}">
                <a16:creationId xmlns:a16="http://schemas.microsoft.com/office/drawing/2014/main" id="{E6AAF2A3-4ECC-431C-958E-18843283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734050"/>
            <a:ext cx="7848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按来源路线、权重和排名融合证据</a:t>
            </a:r>
          </a:p>
        </p:txBody>
      </p:sp>
      <p:sp>
        <p:nvSpPr>
          <p:cNvPr id="19" name="pipeline-deep 可选">
            <a:extLst xmlns:a="http://schemas.openxmlformats.org/drawingml/2006/main">
              <a:ext uri="{FF2B5EF4-FFF2-40B4-BE49-F238E27FC236}">
                <a16:creationId xmlns:a16="http://schemas.microsoft.com/office/drawing/2014/main" id="{C369B4F0-8EC2-43FD-B649-79ABDD40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720" y="6282690"/>
            <a:ext cx="864108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FFF8EA"/>
          </a:solidFill>
        </p:spPr>
      </p:sp>
      <p:sp>
        <p:nvSpPr>
          <p:cNvPr id="20" name="pipeline-dot-deep 可选">
            <a:extLst xmlns:a="http://schemas.openxmlformats.org/drawingml/2006/main">
              <a:ext uri="{FF2B5EF4-FFF2-40B4-BE49-F238E27FC236}">
                <a16:creationId xmlns:a16="http://schemas.microsoft.com/office/drawing/2014/main" id="{DD240742-9AA6-4D3A-BB8C-1D209DA3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66294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4D8"/>
          </a:solidFill>
        </p:spPr>
      </p:sp>
      <p:sp>
        <p:nvSpPr>
          <p:cNvPr id="21" name="pipeline-title-deep 可选">
            <a:extLst xmlns:a="http://schemas.openxmlformats.org/drawingml/2006/main">
              <a:ext uri="{FF2B5EF4-FFF2-40B4-BE49-F238E27FC236}">
                <a16:creationId xmlns:a16="http://schemas.microsoft.com/office/drawing/2014/main" id="{B361E178-28ED-419E-84B7-6AC9FCE10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6438900"/>
            <a:ext cx="7848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deep 可选</a:t>
            </a:r>
          </a:p>
        </p:txBody>
      </p:sp>
      <p:sp>
        <p:nvSpPr>
          <p:cNvPr id="22" name="pipeline-detail-deep 可选">
            <a:extLst xmlns:a="http://schemas.openxmlformats.org/drawingml/2006/main">
              <a:ext uri="{FF2B5EF4-FFF2-40B4-BE49-F238E27FC236}">
                <a16:creationId xmlns:a16="http://schemas.microsoft.com/office/drawing/2014/main" id="{DF12FEEC-EADB-4B2D-BECE-A68879E0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6724650"/>
            <a:ext cx="7848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本地 bge-m3 embedding + reranker 做语义增强</a:t>
            </a:r>
          </a:p>
        </p:txBody>
      </p:sp>
      <p:sp>
        <p:nvSpPr>
          <p:cNvPr id="23" name="pipeline-带来源回答">
            <a:extLst xmlns:a="http://schemas.openxmlformats.org/drawingml/2006/main">
              <a:ext uri="{FF2B5EF4-FFF2-40B4-BE49-F238E27FC236}">
                <a16:creationId xmlns:a16="http://schemas.microsoft.com/office/drawing/2014/main" id="{A30CF70C-EE42-4C21-922A-7964217F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720" y="7273290"/>
            <a:ext cx="864108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FFF8EA"/>
          </a:solidFill>
        </p:spPr>
      </p:sp>
      <p:sp>
        <p:nvSpPr>
          <p:cNvPr id="24" name="pipeline-dot-带来源回答">
            <a:extLst xmlns:a="http://schemas.openxmlformats.org/drawingml/2006/main">
              <a:ext uri="{FF2B5EF4-FFF2-40B4-BE49-F238E27FC236}">
                <a16:creationId xmlns:a16="http://schemas.microsoft.com/office/drawing/2014/main" id="{9470E896-E9D7-4017-BB06-5E82DA46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76200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59"/>
          </a:solidFill>
        </p:spPr>
      </p:sp>
      <p:sp>
        <p:nvSpPr>
          <p:cNvPr id="25" name="pipeline-title-带来源回答">
            <a:extLst xmlns:a="http://schemas.openxmlformats.org/drawingml/2006/main">
              <a:ext uri="{FF2B5EF4-FFF2-40B4-BE49-F238E27FC236}">
                <a16:creationId xmlns:a16="http://schemas.microsoft.com/office/drawing/2014/main" id="{321F54C1-A109-470F-93CD-4A63C66C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7429500"/>
            <a:ext cx="7848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带来源回答</a:t>
            </a:r>
          </a:p>
        </p:txBody>
      </p:sp>
      <p:sp>
        <p:nvSpPr>
          <p:cNvPr id="26" name="pipeline-detail-带来源回答">
            <a:extLst xmlns:a="http://schemas.openxmlformats.org/drawingml/2006/main">
              <a:ext uri="{FF2B5EF4-FFF2-40B4-BE49-F238E27FC236}">
                <a16:creationId xmlns:a16="http://schemas.microsoft.com/office/drawing/2014/main" id="{5FDDB6B8-8E09-4AD6-9BD0-737766D8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7715250"/>
            <a:ext cx="7848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06C"/>
                </a:solidFill>
              </a:defRPr>
            </a:pPr>
            <a:r>
              <a:rPr sz="1200">
                <a:solidFill>
                  <a:srgbClr val="59606C"/>
                </a:solidFill>
              </a:rPr>
              <a:t>回答里保留引用编号，方便回到原文件核对</a:t>
            </a:r>
          </a:p>
        </p:txBody>
      </p:sp>
      <p:sp>
        <p:nvSpPr>
          <p:cNvPr id="27" name="principle-footer-label">
            <a:extLst xmlns:a="http://schemas.openxmlformats.org/drawingml/2006/main">
              <a:ext uri="{FF2B5EF4-FFF2-40B4-BE49-F238E27FC236}">
                <a16:creationId xmlns:a16="http://schemas.microsoft.com/office/drawing/2014/main" id="{FC7FC152-7FEA-495B-876C-D81B3AB86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296400"/>
            <a:ext cx="533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E65D2F"/>
                </a:solidFill>
              </a:defRPr>
            </a:pPr>
            <a:r>
              <a:rPr sz="2100" b="1">
                <a:solidFill>
                  <a:srgbClr val="E65D2F"/>
                </a:solidFill>
              </a:rPr>
              <a:t>优点</a:t>
            </a:r>
          </a:p>
        </p:txBody>
      </p:sp>
      <p:sp>
        <p:nvSpPr>
          <p:cNvPr id="28" name="adv-local">
            <a:extLst xmlns:a="http://schemas.openxmlformats.org/drawingml/2006/main">
              <a:ext uri="{FF2B5EF4-FFF2-40B4-BE49-F238E27FC236}">
                <a16:creationId xmlns:a16="http://schemas.microsoft.com/office/drawing/2014/main" id="{44E5D410-D302-421D-83D6-0FF6C02A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9296400"/>
            <a:ext cx="10668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F8EA"/>
                </a:solidFill>
              </a:defRPr>
            </a:pPr>
            <a:r>
              <a:rPr sz="2100" b="1">
                <a:solidFill>
                  <a:srgbClr val="FFF8EA"/>
                </a:solidFill>
              </a:rPr>
              <a:t>本地优先</a:t>
            </a:r>
          </a:p>
        </p:txBody>
      </p:sp>
      <p:sp>
        <p:nvSpPr>
          <p:cNvPr id="29" name="adv-readonly">
            <a:extLst xmlns:a="http://schemas.openxmlformats.org/drawingml/2006/main">
              <a:ext uri="{FF2B5EF4-FFF2-40B4-BE49-F238E27FC236}">
                <a16:creationId xmlns:a16="http://schemas.microsoft.com/office/drawing/2014/main" id="{613DEDF5-E447-498F-AB85-DD19493ED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9296400"/>
            <a:ext cx="10668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F8EA"/>
                </a:solidFill>
              </a:defRPr>
            </a:pPr>
            <a:r>
              <a:rPr sz="2100" b="1">
                <a:solidFill>
                  <a:srgbClr val="FFF8EA"/>
                </a:solidFill>
              </a:rPr>
              <a:t>默认只读</a:t>
            </a:r>
          </a:p>
        </p:txBody>
      </p:sp>
      <p:sp>
        <p:nvSpPr>
          <p:cNvPr id="30" name="adv-modes">
            <a:extLst xmlns:a="http://schemas.openxmlformats.org/drawingml/2006/main">
              <a:ext uri="{FF2B5EF4-FFF2-40B4-BE49-F238E27FC236}">
                <a16:creationId xmlns:a16="http://schemas.microsoft.com/office/drawing/2014/main" id="{08289729-FBA2-437F-B31C-1409839A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9296400"/>
            <a:ext cx="10668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F8EA"/>
                </a:solidFill>
              </a:defRPr>
            </a:pPr>
            <a:r>
              <a:rPr sz="2100" b="1">
                <a:solidFill>
                  <a:srgbClr val="FFF8EA"/>
                </a:solidFill>
              </a:rPr>
              <a:t>快慢可选</a:t>
            </a:r>
          </a:p>
        </p:txBody>
      </p:sp>
      <p:sp>
        <p:nvSpPr>
          <p:cNvPr id="31" name="adv-source">
            <a:extLst xmlns:a="http://schemas.openxmlformats.org/drawingml/2006/main">
              <a:ext uri="{FF2B5EF4-FFF2-40B4-BE49-F238E27FC236}">
                <a16:creationId xmlns:a16="http://schemas.microsoft.com/office/drawing/2014/main" id="{CFA85002-2AFD-4E2C-B3C3-FD983FC8E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9296400"/>
            <a:ext cx="1333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F8EA"/>
                </a:solidFill>
              </a:defRPr>
            </a:pPr>
            <a:r>
              <a:rPr sz="2100" b="1">
                <a:solidFill>
                  <a:srgbClr val="FFF8EA"/>
                </a:solidFill>
              </a:rPr>
              <a:t>证据可回查</a:t>
            </a:r>
          </a:p>
        </p:txBody>
      </p:sp>
    </p:spTree>
    <p:extLst>
      <p:ext uri="{BB962C8B-B14F-4D97-AF65-F5344CB8AC3E}">
        <p14:creationId xmlns:p14="http://schemas.microsoft.com/office/powerpoint/2010/main" val="180240468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4-bg">
            <a:extLst xmlns:a="http://schemas.openxmlformats.org/drawingml/2006/main">
              <a:ext uri="{FF2B5EF4-FFF2-40B4-BE49-F238E27FC236}">
                <a16:creationId xmlns:a16="http://schemas.microsoft.com/office/drawing/2014/main" id="{E323B1DC-BEBA-4BE8-85AF-8B8B0B82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A"/>
          </a:solidFill>
        </p:spPr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2F0D7F95-215B-4688-9D68-5E3B8324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85800"/>
            <a:ext cx="16611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111827"/>
                </a:solidFill>
              </a:defRPr>
            </a:pPr>
            <a:r>
              <a:rPr sz="4500" b="1">
                <a:solidFill>
                  <a:srgbClr val="111827"/>
                </a:solidFill>
              </a:rPr>
              <a:t>部署和使用：装好后，用自然语言触发</a:t>
            </a:r>
          </a:p>
        </p:txBody>
      </p:sp>
      <p:sp>
        <p:nvSpPr>
          <p:cNvPr id="3" name="slide-4-subtitle">
            <a:extLst xmlns:a="http://schemas.openxmlformats.org/drawingml/2006/main">
              <a:ext uri="{FF2B5EF4-FFF2-40B4-BE49-F238E27FC236}">
                <a16:creationId xmlns:a16="http://schemas.microsoft.com/office/drawing/2014/main" id="{70C70A14-D9D4-4503-A452-1D69D52B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85900"/>
            <a:ext cx="84391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59606C"/>
                </a:solidFill>
              </a:defRPr>
            </a:pPr>
            <a:r>
              <a:rPr sz="2100">
                <a:solidFill>
                  <a:srgbClr val="59606C"/>
                </a:solidFill>
              </a:rPr>
              <a:t>包含 lkb 或调用 skill 即可自动检索；也可以显式写搜索模式和搜索深度。</a:t>
            </a:r>
          </a:p>
        </p:txBody>
      </p:sp>
      <p:sp>
        <p:nvSpPr>
          <p:cNvPr id="4" name="deploy-step-1-num">
            <a:extLst xmlns:a="http://schemas.openxmlformats.org/drawingml/2006/main">
              <a:ext uri="{FF2B5EF4-FFF2-40B4-BE49-F238E27FC236}">
                <a16:creationId xmlns:a16="http://schemas.microsoft.com/office/drawing/2014/main" id="{5435ABA7-CF48-4404-9C26-99AB24C4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876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8B7A"/>
                </a:solidFill>
              </a:defRPr>
            </a:pPr>
            <a:r>
              <a:rPr sz="3600" b="1">
                <a:solidFill>
                  <a:srgbClr val="008B7A"/>
                </a:solidFill>
              </a:rPr>
              <a:t>01</a:t>
            </a:r>
          </a:p>
        </p:txBody>
      </p:sp>
      <p:sp>
        <p:nvSpPr>
          <p:cNvPr id="5" name="deploy-step-1-title">
            <a:extLst xmlns:a="http://schemas.openxmlformats.org/drawingml/2006/main">
              <a:ext uri="{FF2B5EF4-FFF2-40B4-BE49-F238E27FC236}">
                <a16:creationId xmlns:a16="http://schemas.microsoft.com/office/drawing/2014/main" id="{2F7F6DB1-6BE2-4084-BD1F-634CFB85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38600"/>
            <a:ext cx="6096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下载并解压</a:t>
            </a:r>
          </a:p>
        </p:txBody>
      </p:sp>
      <p:sp>
        <p:nvSpPr>
          <p:cNvPr id="6" name="deploy-step-1-copy">
            <a:extLst xmlns:a="http://schemas.openxmlformats.org/drawingml/2006/main">
              <a:ext uri="{FF2B5EF4-FFF2-40B4-BE49-F238E27FC236}">
                <a16:creationId xmlns:a16="http://schemas.microsoft.com/office/drawing/2014/main" id="{4F44BD4A-232F-4249-A6A8-786108862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495800"/>
            <a:ext cx="6096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9606C"/>
                </a:solidFill>
              </a:defRPr>
            </a:pPr>
            <a:r>
              <a:rPr sz="1800">
                <a:solidFill>
                  <a:srgbClr val="59606C"/>
                </a:solidFill>
              </a:rPr>
              <a:t>进入项目里的 local-knowledge-bridge 目录。</a:t>
            </a:r>
          </a:p>
        </p:txBody>
      </p:sp>
      <p:sp>
        <p:nvSpPr>
          <p:cNvPr id="7" name="deploy-step-2-num">
            <a:extLst xmlns:a="http://schemas.openxmlformats.org/drawingml/2006/main">
              <a:ext uri="{FF2B5EF4-FFF2-40B4-BE49-F238E27FC236}">
                <a16:creationId xmlns:a16="http://schemas.microsoft.com/office/drawing/2014/main" id="{7D841F93-0977-4FE7-B424-01ACAB43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67300"/>
            <a:ext cx="876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E65D2F"/>
                </a:solidFill>
              </a:defRPr>
            </a:pPr>
            <a:r>
              <a:rPr sz="3600" b="1">
                <a:solidFill>
                  <a:srgbClr val="E65D2F"/>
                </a:solidFill>
              </a:rPr>
              <a:t>02</a:t>
            </a:r>
          </a:p>
        </p:txBody>
      </p:sp>
      <p:sp>
        <p:nvSpPr>
          <p:cNvPr id="8" name="deploy-step-2-title">
            <a:extLst xmlns:a="http://schemas.openxmlformats.org/drawingml/2006/main">
              <a:ext uri="{FF2B5EF4-FFF2-40B4-BE49-F238E27FC236}">
                <a16:creationId xmlns:a16="http://schemas.microsoft.com/office/drawing/2014/main" id="{3AF804FF-0F21-4748-9425-6EF61299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67300"/>
            <a:ext cx="6096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运行安装程序</a:t>
            </a:r>
          </a:p>
        </p:txBody>
      </p:sp>
      <p:sp>
        <p:nvSpPr>
          <p:cNvPr id="9" name="deploy-step-2-copy">
            <a:extLst xmlns:a="http://schemas.openxmlformats.org/drawingml/2006/main">
              <a:ext uri="{FF2B5EF4-FFF2-40B4-BE49-F238E27FC236}">
                <a16:creationId xmlns:a16="http://schemas.microsoft.com/office/drawing/2014/main" id="{665A6A83-F8A3-49A7-82BC-FD1FF9A1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524500"/>
            <a:ext cx="6096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9606C"/>
                </a:solidFill>
              </a:defRPr>
            </a:pPr>
            <a:r>
              <a:rPr sz="1800">
                <a:solidFill>
                  <a:srgbClr val="59606C"/>
                </a:solidFill>
              </a:rPr>
              <a:t>按向导配置已有部署或安装 / 重新部署，并添加数据源。</a:t>
            </a:r>
          </a:p>
        </p:txBody>
      </p:sp>
      <p:sp>
        <p:nvSpPr>
          <p:cNvPr id="10" name="deploy-code-panel">
            <a:extLst xmlns:a="http://schemas.openxmlformats.org/drawingml/2006/main">
              <a:ext uri="{FF2B5EF4-FFF2-40B4-BE49-F238E27FC236}">
                <a16:creationId xmlns:a16="http://schemas.microsoft.com/office/drawing/2014/main" id="{E8D2B899-F872-483D-8856-880203F3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84570"/>
            <a:ext cx="7209473" cy="1104900"/>
          </a:xfrm>
          <a:prstGeom xmlns:a="http://schemas.openxmlformats.org/drawingml/2006/main" prst="roundRect">
            <a:avLst>
              <a:gd name="adj" fmla="val 15517"/>
            </a:avLst>
          </a:prstGeom>
          <a:solidFill xmlns:a="http://schemas.openxmlformats.org/drawingml/2006/main">
            <a:srgbClr val="101820"/>
          </a:solidFill>
        </p:spPr>
      </p:sp>
      <p:sp>
        <p:nvSpPr>
          <p:cNvPr id="11" name="deploy-code-1">
            <a:extLst xmlns:a="http://schemas.openxmlformats.org/drawingml/2006/main">
              <a:ext uri="{FF2B5EF4-FFF2-40B4-BE49-F238E27FC236}">
                <a16:creationId xmlns:a16="http://schemas.microsoft.com/office/drawing/2014/main" id="{5B817DC9-8DAC-47DE-B43A-A05FBEF8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6286500"/>
            <a:ext cx="6705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8EA"/>
                </a:solidFill>
              </a:defRPr>
            </a:pPr>
            <a:r>
              <a:rPr sz="1800">
                <a:solidFill>
                  <a:srgbClr val="FFF8EA"/>
                </a:solidFill>
              </a:rPr>
              <a:t>cd &lt;repo&gt;\local-knowledge-bridge</a:t>
            </a:r>
          </a:p>
        </p:txBody>
      </p:sp>
      <p:sp>
        <p:nvSpPr>
          <p:cNvPr id="12" name="deploy-code-2">
            <a:extLst xmlns:a="http://schemas.openxmlformats.org/drawingml/2006/main">
              <a:ext uri="{FF2B5EF4-FFF2-40B4-BE49-F238E27FC236}">
                <a16:creationId xmlns:a16="http://schemas.microsoft.com/office/drawing/2014/main" id="{8D09C27D-CA7D-4C34-B285-6E7B2413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6686550"/>
            <a:ext cx="6705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9FF2DF"/>
                </a:solidFill>
              </a:defRPr>
            </a:pPr>
            <a:r>
              <a:rPr sz="1950">
                <a:solidFill>
                  <a:srgbClr val="9FF2DF"/>
                </a:solidFill>
              </a:rPr>
              <a:t>.\lkb_setup.cmd</a:t>
            </a:r>
          </a:p>
        </p:txBody>
      </p:sp>
      <p:sp>
        <p:nvSpPr>
          <p:cNvPr id="13" name="examples-title">
            <a:extLst xmlns:a="http://schemas.openxmlformats.org/drawingml/2006/main">
              <a:ext uri="{FF2B5EF4-FFF2-40B4-BE49-F238E27FC236}">
                <a16:creationId xmlns:a16="http://schemas.microsoft.com/office/drawing/2014/main" id="{5890CE2C-358F-41BC-A032-4BDA7D74E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686300"/>
            <a:ext cx="88201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像这样在 Codex 里问</a:t>
            </a:r>
          </a:p>
        </p:txBody>
      </p:sp>
      <p:sp>
        <p:nvSpPr>
          <p:cNvPr id="14" name="example-mark-lkbsea">
            <a:extLst xmlns:a="http://schemas.openxmlformats.org/drawingml/2006/main">
              <a:ext uri="{FF2B5EF4-FFF2-40B4-BE49-F238E27FC236}">
                <a16:creationId xmlns:a16="http://schemas.microsoft.com/office/drawing/2014/main" id="{0ECF95F1-6306-40B4-8D60-93691F35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295900"/>
            <a:ext cx="95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7A"/>
          </a:solidFill>
        </p:spPr>
      </p:sp>
      <p:sp>
        <p:nvSpPr>
          <p:cNvPr id="15" name="example-lkbsearc">
            <a:extLst xmlns:a="http://schemas.openxmlformats.org/drawingml/2006/main">
              <a:ext uri="{FF2B5EF4-FFF2-40B4-BE49-F238E27FC236}">
                <a16:creationId xmlns:a16="http://schemas.microsoft.com/office/drawing/2014/main" id="{E36143C4-65F6-4A1A-9BA2-7B92ADC7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314950"/>
            <a:ext cx="8591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827"/>
                </a:solidFill>
              </a:defRPr>
            </a:pPr>
            <a:r>
              <a:rPr sz="1725">
                <a:solidFill>
                  <a:srgbClr val="111827"/>
                </a:solidFill>
              </a:rPr>
              <a:t>lkbsearch，罗列二战期间被讨论过的主流思潮。</a:t>
            </a:r>
          </a:p>
        </p:txBody>
      </p:sp>
      <p:sp>
        <p:nvSpPr>
          <p:cNvPr id="16" name="example-mark-lkbrep">
            <a:extLst xmlns:a="http://schemas.openxmlformats.org/drawingml/2006/main">
              <a:ext uri="{FF2B5EF4-FFF2-40B4-BE49-F238E27FC236}">
                <a16:creationId xmlns:a16="http://schemas.microsoft.com/office/drawing/2014/main" id="{43B58834-E241-48D7-9E32-124BFCAD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791200"/>
            <a:ext cx="95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5D2F"/>
          </a:solidFill>
        </p:spPr>
      </p:sp>
      <p:sp>
        <p:nvSpPr>
          <p:cNvPr id="17" name="example-lkbrepor">
            <a:extLst xmlns:a="http://schemas.openxmlformats.org/drawingml/2006/main">
              <a:ext uri="{FF2B5EF4-FFF2-40B4-BE49-F238E27FC236}">
                <a16:creationId xmlns:a16="http://schemas.microsoft.com/office/drawing/2014/main" id="{CB9B2D95-F1BC-4027-A08F-7D03C547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791200"/>
            <a:ext cx="8591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827"/>
                </a:solidFill>
              </a:defRPr>
            </a:pPr>
            <a:r>
              <a:rPr sz="1725">
                <a:solidFill>
                  <a:srgbClr val="111827"/>
                </a:solidFill>
              </a:rPr>
              <a:t>lkbreport deep，把这些思潮被热烈讨论的时间排成先后顺序。</a:t>
            </a:r>
          </a:p>
        </p:txBody>
      </p:sp>
      <p:sp>
        <p:nvSpPr>
          <p:cNvPr id="18" name="example-mark-lkbask">
            <a:extLst xmlns:a="http://schemas.openxmlformats.org/drawingml/2006/main">
              <a:ext uri="{FF2B5EF4-FFF2-40B4-BE49-F238E27FC236}">
                <a16:creationId xmlns:a16="http://schemas.microsoft.com/office/drawing/2014/main" id="{26273C3C-B2E7-4F1D-B0A8-42AADACA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248400"/>
            <a:ext cx="95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64D8"/>
          </a:solidFill>
        </p:spPr>
      </p:sp>
      <p:sp>
        <p:nvSpPr>
          <p:cNvPr id="19" name="example-lkbask d">
            <a:extLst xmlns:a="http://schemas.openxmlformats.org/drawingml/2006/main">
              <a:ext uri="{FF2B5EF4-FFF2-40B4-BE49-F238E27FC236}">
                <a16:creationId xmlns:a16="http://schemas.microsoft.com/office/drawing/2014/main" id="{3C72C4E2-7943-4962-AA5A-F10C658F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67450"/>
            <a:ext cx="8591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827"/>
                </a:solidFill>
              </a:defRPr>
            </a:pPr>
            <a:r>
              <a:rPr sz="1725">
                <a:solidFill>
                  <a:srgbClr val="111827"/>
                </a:solidFill>
              </a:rPr>
              <a:t>lkbask deep，分析这些思潮之间有什么共性，并引用来源。</a:t>
            </a:r>
          </a:p>
        </p:txBody>
      </p:sp>
      <p:sp>
        <p:nvSpPr>
          <p:cNvPr id="20" name="slide-4-footer">
            <a:extLst xmlns:a="http://schemas.openxmlformats.org/drawingml/2006/main">
              <a:ext uri="{FF2B5EF4-FFF2-40B4-BE49-F238E27FC236}">
                <a16:creationId xmlns:a16="http://schemas.microsoft.com/office/drawing/2014/main" id="{AE2D4D17-E1D5-461C-B1E8-B02C19CB9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410700"/>
            <a:ext cx="16611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77705F"/>
                </a:solidFill>
              </a:defRPr>
            </a:pPr>
            <a:r>
              <a:rPr sz="1200">
                <a:solidFill>
                  <a:srgbClr val="77705F"/>
                </a:solidFill>
              </a:rPr>
              <a:t>使用示例依据 local-knowledge-bridge/README.zh-CN.md。</a:t>
            </a:r>
          </a:p>
        </p:txBody>
      </p:sp>
    </p:spTree>
    <p:extLst>
      <p:ext uri="{BB962C8B-B14F-4D97-AF65-F5344CB8AC3E}">
        <p14:creationId xmlns:p14="http://schemas.microsoft.com/office/powerpoint/2010/main" val="3271430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2026-05-03T08:33:46.7500000Z</dcterms:created>
  <dcterms:modified xsi:type="dcterms:W3CDTF">2026-05-03T08:33:46.7500000Z</dcterms:modified>
</coreProperties>
</file>